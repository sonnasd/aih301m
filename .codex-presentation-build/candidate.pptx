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1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3306db5de640fc" /><Relationship Type="http://schemas.openxmlformats.org/officeDocument/2006/relationships/extended-properties" Target="/docProps/app.xml" Id="Rdd48897320bb41e4" /><Relationship Type="http://schemas.openxmlformats.org/officeDocument/2006/relationships/officeDocument" Target="/ppt/presentation.xml" Id="R93153d8b016444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cb6054cbf94001"/>
  </p:sldMasterIdLst>
  <p:notesMasterIdLst>
    <p:notesMasterId xmlns:r="http://schemas.openxmlformats.org/officeDocument/2006/relationships" r:id="Rc2d23d43f67848b3"/>
  </p:notesMasterIdLst>
  <p:sldIdLst>
    <p:sldId xmlns:r="http://schemas.openxmlformats.org/officeDocument/2006/relationships" id="256" r:id="Re00326f1b2354494"/>
    <p:sldId xmlns:r="http://schemas.openxmlformats.org/officeDocument/2006/relationships" id="257" r:id="Re95ffc21a58e4f3f"/>
    <p:sldId xmlns:r="http://schemas.openxmlformats.org/officeDocument/2006/relationships" id="258" r:id="Rfa2ced7d49c743f9"/>
    <p:sldId xmlns:r="http://schemas.openxmlformats.org/officeDocument/2006/relationships" id="259" r:id="R6ed6eeb4396a492d"/>
    <p:sldId xmlns:r="http://schemas.openxmlformats.org/officeDocument/2006/relationships" id="260" r:id="R4b8d690d001b4590"/>
    <p:sldId xmlns:r="http://schemas.openxmlformats.org/officeDocument/2006/relationships" id="261" r:id="Rf53fe373e00b4cbf"/>
    <p:sldId xmlns:r="http://schemas.openxmlformats.org/officeDocument/2006/relationships" id="262" r:id="R51e63b7ba4b34759"/>
    <p:sldId xmlns:r="http://schemas.openxmlformats.org/officeDocument/2006/relationships" id="263" r:id="R1ab598d510fe431a"/>
    <p:sldId xmlns:r="http://schemas.openxmlformats.org/officeDocument/2006/relationships" id="264" r:id="R150e835a64e044d7"/>
    <p:sldId xmlns:r="http://schemas.openxmlformats.org/officeDocument/2006/relationships" id="265" r:id="Rf4821a861b6541ec"/>
    <p:sldId xmlns:r="http://schemas.openxmlformats.org/officeDocument/2006/relationships" id="266" r:id="Rd8059ab3303241e8"/>
    <p:sldId xmlns:r="http://schemas.openxmlformats.org/officeDocument/2006/relationships" id="267" r:id="R7b7403ae134c45f0"/>
    <p:sldId xmlns:r="http://schemas.openxmlformats.org/officeDocument/2006/relationships" id="268" r:id="R04aae7a11709459b"/>
    <p:sldId xmlns:r="http://schemas.openxmlformats.org/officeDocument/2006/relationships" id="269" r:id="R8f900d0403e34f58"/>
    <p:sldId xmlns:r="http://schemas.openxmlformats.org/officeDocument/2006/relationships" id="270" r:id="Rb7f0e52e192e4927"/>
    <p:sldId xmlns:r="http://schemas.openxmlformats.org/officeDocument/2006/relationships" id="271" r:id="Rec39db4c5d114548"/>
    <p:sldId xmlns:r="http://schemas.openxmlformats.org/officeDocument/2006/relationships" id="272" r:id="Rbd9bee0461d144e0"/>
    <p:sldId xmlns:r="http://schemas.openxmlformats.org/officeDocument/2006/relationships" id="273" r:id="R2444f8f524754179"/>
    <p:sldId xmlns:r="http://schemas.openxmlformats.org/officeDocument/2006/relationships" id="274" r:id="R4502abfc14744db6"/>
    <p:sldId xmlns:r="http://schemas.openxmlformats.org/officeDocument/2006/relationships" id="275" r:id="Rf0c3d06964504554"/>
    <p:sldId xmlns:r="http://schemas.openxmlformats.org/officeDocument/2006/relationships" id="276" r:id="R7444bf748bb04d89"/>
    <p:sldId xmlns:r="http://schemas.openxmlformats.org/officeDocument/2006/relationships" id="277" r:id="R01ab33c2317b4b8e"/>
    <p:sldId xmlns:r="http://schemas.openxmlformats.org/officeDocument/2006/relationships" id="278" r:id="Ref64c92cd2df444c"/>
    <p:sldId xmlns:r="http://schemas.openxmlformats.org/officeDocument/2006/relationships" id="279" r:id="R752c7834a2ad474b"/>
    <p:sldId xmlns:r="http://schemas.openxmlformats.org/officeDocument/2006/relationships" id="280" r:id="Rea72c2fd2904421b"/>
    <p:sldId xmlns:r="http://schemas.openxmlformats.org/officeDocument/2006/relationships" id="281" r:id="Rc5bae7003cf04b85"/>
    <p:sldId xmlns:r="http://schemas.openxmlformats.org/officeDocument/2006/relationships" id="282" r:id="R89dc4bf9dd36411d"/>
    <p:sldId xmlns:r="http://schemas.openxmlformats.org/officeDocument/2006/relationships" id="283" r:id="R3808fdd48c674351"/>
    <p:sldId xmlns:r="http://schemas.openxmlformats.org/officeDocument/2006/relationships" id="284" r:id="Redd7b32d17534a1f"/>
    <p:sldId xmlns:r="http://schemas.openxmlformats.org/officeDocument/2006/relationships" id="285" r:id="Rd0fa3c28a0104609"/>
    <p:sldId xmlns:r="http://schemas.openxmlformats.org/officeDocument/2006/relationships" id="286" r:id="Ra2c369cfd0844582"/>
    <p:sldId xmlns:r="http://schemas.openxmlformats.org/officeDocument/2006/relationships" id="287" r:id="R9fc4414d27b74f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c35d79276b42a0" /><Relationship Type="http://schemas.openxmlformats.org/officeDocument/2006/relationships/slideMaster" Target="/ppt/slideMasters/slideMaster1.xml" Id="R79cb6054cbf94001" /><Relationship Type="http://schemas.openxmlformats.org/officeDocument/2006/relationships/notesMaster" Target="/ppt/notesMasters/notesMaster1.xml" Id="Rc2d23d43f67848b3" /><Relationship Type="http://schemas.openxmlformats.org/officeDocument/2006/relationships/presProps" Target="/ppt/presProps.xml" Id="R7c883321271f4b15" /><Relationship Type="http://schemas.openxmlformats.org/officeDocument/2006/relationships/tableStyles" Target="/ppt/tableStyles.xml" Id="R02f11cb59ee4442a" /><Relationship Type="http://schemas.openxmlformats.org/officeDocument/2006/relationships/slide" Target="/ppt/slides/slide1.xml" Id="Re00326f1b2354494" /><Relationship Type="http://schemas.openxmlformats.org/officeDocument/2006/relationships/slide" Target="/ppt/slides/slide2.xml" Id="Re95ffc21a58e4f3f" /><Relationship Type="http://schemas.openxmlformats.org/officeDocument/2006/relationships/slide" Target="/ppt/slides/slide3.xml" Id="Rfa2ced7d49c743f9" /><Relationship Type="http://schemas.openxmlformats.org/officeDocument/2006/relationships/slide" Target="/ppt/slides/slide4.xml" Id="R6ed6eeb4396a492d" /><Relationship Type="http://schemas.openxmlformats.org/officeDocument/2006/relationships/slide" Target="/ppt/slides/slide5.xml" Id="R4b8d690d001b4590" /><Relationship Type="http://schemas.openxmlformats.org/officeDocument/2006/relationships/slide" Target="/ppt/slides/slide6.xml" Id="Rf53fe373e00b4cbf" /><Relationship Type="http://schemas.openxmlformats.org/officeDocument/2006/relationships/slide" Target="/ppt/slides/slide7.xml" Id="R51e63b7ba4b34759" /><Relationship Type="http://schemas.openxmlformats.org/officeDocument/2006/relationships/slide" Target="/ppt/slides/slide8.xml" Id="R1ab598d510fe431a" /><Relationship Type="http://schemas.openxmlformats.org/officeDocument/2006/relationships/slide" Target="/ppt/slides/slide9.xml" Id="R150e835a64e044d7" /><Relationship Type="http://schemas.openxmlformats.org/officeDocument/2006/relationships/slide" Target="/ppt/slides/slide10.xml" Id="Rf4821a861b6541ec" /><Relationship Type="http://schemas.openxmlformats.org/officeDocument/2006/relationships/slide" Target="/ppt/slides/slide11.xml" Id="Rd8059ab3303241e8" /><Relationship Type="http://schemas.openxmlformats.org/officeDocument/2006/relationships/slide" Target="/ppt/slides/slide12.xml" Id="R7b7403ae134c45f0" /><Relationship Type="http://schemas.openxmlformats.org/officeDocument/2006/relationships/slide" Target="/ppt/slides/slide13.xml" Id="R04aae7a11709459b" /><Relationship Type="http://schemas.openxmlformats.org/officeDocument/2006/relationships/slide" Target="/ppt/slides/slide14.xml" Id="R8f900d0403e34f58" /><Relationship Type="http://schemas.openxmlformats.org/officeDocument/2006/relationships/slide" Target="/ppt/slides/slide15.xml" Id="Rb7f0e52e192e4927" /><Relationship Type="http://schemas.openxmlformats.org/officeDocument/2006/relationships/slide" Target="/ppt/slides/slide16.xml" Id="Rec39db4c5d114548" /><Relationship Type="http://schemas.openxmlformats.org/officeDocument/2006/relationships/slide" Target="/ppt/slides/slide17.xml" Id="Rbd9bee0461d144e0" /><Relationship Type="http://schemas.openxmlformats.org/officeDocument/2006/relationships/slide" Target="/ppt/slides/slide18.xml" Id="R2444f8f524754179" /><Relationship Type="http://schemas.openxmlformats.org/officeDocument/2006/relationships/slide" Target="/ppt/slides/slide19.xml" Id="R4502abfc14744db6" /><Relationship Type="http://schemas.openxmlformats.org/officeDocument/2006/relationships/slide" Target="/ppt/slides/slide20.xml" Id="Rf0c3d06964504554" /><Relationship Type="http://schemas.openxmlformats.org/officeDocument/2006/relationships/slide" Target="/ppt/slides/slide21.xml" Id="R7444bf748bb04d89" /><Relationship Type="http://schemas.openxmlformats.org/officeDocument/2006/relationships/slide" Target="/ppt/slides/slide22.xml" Id="R01ab33c2317b4b8e" /><Relationship Type="http://schemas.openxmlformats.org/officeDocument/2006/relationships/slide" Target="/ppt/slides/slide23.xml" Id="Ref64c92cd2df444c" /><Relationship Type="http://schemas.openxmlformats.org/officeDocument/2006/relationships/slide" Target="/ppt/slides/slide24.xml" Id="R752c7834a2ad474b" /><Relationship Type="http://schemas.openxmlformats.org/officeDocument/2006/relationships/slide" Target="/ppt/slides/slide25.xml" Id="Rea72c2fd2904421b" /><Relationship Type="http://schemas.openxmlformats.org/officeDocument/2006/relationships/slide" Target="/ppt/slides/slide26.xml" Id="Rc5bae7003cf04b85" /><Relationship Type="http://schemas.openxmlformats.org/officeDocument/2006/relationships/slide" Target="/ppt/slides/slide27.xml" Id="R89dc4bf9dd36411d" /><Relationship Type="http://schemas.openxmlformats.org/officeDocument/2006/relationships/slide" Target="/ppt/slides/slide28.xml" Id="R3808fdd48c674351" /><Relationship Type="http://schemas.openxmlformats.org/officeDocument/2006/relationships/slide" Target="/ppt/slides/slide29.xml" Id="Redd7b32d17534a1f" /><Relationship Type="http://schemas.openxmlformats.org/officeDocument/2006/relationships/slide" Target="/ppt/slides/slide30.xml" Id="Rd0fa3c28a0104609" /><Relationship Type="http://schemas.openxmlformats.org/officeDocument/2006/relationships/slide" Target="/ppt/slides/slide31.xml" Id="Ra2c369cfd0844582" /><Relationship Type="http://schemas.openxmlformats.org/officeDocument/2006/relationships/slide" Target="/ppt/slides/slide32.xml" Id="R9fc4414d27b74f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97e8ff948b41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7d5ad97a47481c" /><Relationship Type="http://schemas.openxmlformats.org/officeDocument/2006/relationships/notesMaster" Target="/ppt/notesMasters/notesMaster1.xml" Id="R7695e413fa3d4d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2c03fa77924c92" /><Relationship Type="http://schemas.openxmlformats.org/officeDocument/2006/relationships/notesMaster" Target="/ppt/notesMasters/notesMaster1.xml" Id="R0f9afa2667694d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f41b89b8d343e7" /><Relationship Type="http://schemas.openxmlformats.org/officeDocument/2006/relationships/notesMaster" Target="/ppt/notesMasters/notesMaster1.xml" Id="Ra453d2ce685644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04f629c2314e1c" /><Relationship Type="http://schemas.openxmlformats.org/officeDocument/2006/relationships/notesMaster" Target="/ppt/notesMasters/notesMaster1.xml" Id="Rdd18b86e702141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d6b8171e264b85" /><Relationship Type="http://schemas.openxmlformats.org/officeDocument/2006/relationships/notesMaster" Target="/ppt/notesMasters/notesMaster1.xml" Id="R96f5d407fadb42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d43841cf274ae3" /><Relationship Type="http://schemas.openxmlformats.org/officeDocument/2006/relationships/notesMaster" Target="/ppt/notesMasters/notesMaster1.xml" Id="R3e5561c79ca44f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dd0e6284864f6f" /><Relationship Type="http://schemas.openxmlformats.org/officeDocument/2006/relationships/notesMaster" Target="/ppt/notesMasters/notesMaster1.xml" Id="R4f6c29fb94ff4d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17230cb9624b57" /><Relationship Type="http://schemas.openxmlformats.org/officeDocument/2006/relationships/notesMaster" Target="/ppt/notesMasters/notesMaster1.xml" Id="R089df59d3fe341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5a30f0b5664528" /><Relationship Type="http://schemas.openxmlformats.org/officeDocument/2006/relationships/notesMaster" Target="/ppt/notesMasters/notesMaster1.xml" Id="R475c41f115da460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a3f4f9826e458f" /><Relationship Type="http://schemas.openxmlformats.org/officeDocument/2006/relationships/notesMaster" Target="/ppt/notesMasters/notesMaster1.xml" Id="Re7e0e29d65ea48e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a0305e03afa43c7" /><Relationship Type="http://schemas.openxmlformats.org/officeDocument/2006/relationships/notesMaster" Target="/ppt/notesMasters/notesMaster1.xml" Id="R716d58ec9ce241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ed873ffb2e7415a" /><Relationship Type="http://schemas.openxmlformats.org/officeDocument/2006/relationships/notesMaster" Target="/ppt/notesMasters/notesMaster1.xml" Id="Rbca4964f7afb49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dffb6db86b4b28" /><Relationship Type="http://schemas.openxmlformats.org/officeDocument/2006/relationships/notesMaster" Target="/ppt/notesMasters/notesMaster1.xml" Id="R67045fdd38224e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909160d88484738" /><Relationship Type="http://schemas.openxmlformats.org/officeDocument/2006/relationships/notesMaster" Target="/ppt/notesMasters/notesMaster1.xml" Id="R900710a5342d4b7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be89b1b3214b2e" /><Relationship Type="http://schemas.openxmlformats.org/officeDocument/2006/relationships/notesMaster" Target="/ppt/notesMasters/notesMaster1.xml" Id="Rfd78116071d445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e7910289c014a24" /><Relationship Type="http://schemas.openxmlformats.org/officeDocument/2006/relationships/notesMaster" Target="/ppt/notesMasters/notesMaster1.xml" Id="R8d50dba78a7541c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ed1aff0cb8f442e" /><Relationship Type="http://schemas.openxmlformats.org/officeDocument/2006/relationships/notesMaster" Target="/ppt/notesMasters/notesMaster1.xml" Id="R3cf88ee1405e419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680443bf19e4b73" /><Relationship Type="http://schemas.openxmlformats.org/officeDocument/2006/relationships/notesMaster" Target="/ppt/notesMasters/notesMaster1.xml" Id="R8d4cfdeb2bd24d6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2f832a805014113" /><Relationship Type="http://schemas.openxmlformats.org/officeDocument/2006/relationships/notesMaster" Target="/ppt/notesMasters/notesMaster1.xml" Id="R76ab6b9ad521483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0a43b6f0f2424d" /><Relationship Type="http://schemas.openxmlformats.org/officeDocument/2006/relationships/notesMaster" Target="/ppt/notesMasters/notesMaster1.xml" Id="R6d7e68a8b0ce47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dbe559af68594a33" /><Relationship Type="http://schemas.openxmlformats.org/officeDocument/2006/relationships/notesMaster" Target="/ppt/notesMasters/notesMaster1.xml" Id="Ra17fb7ac656044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509ad1f861402b" /><Relationship Type="http://schemas.openxmlformats.org/officeDocument/2006/relationships/notesMaster" Target="/ppt/notesMasters/notesMaster1.xml" Id="R2da011ff94524ba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c14f1db32f84f67" /><Relationship Type="http://schemas.openxmlformats.org/officeDocument/2006/relationships/notesMaster" Target="/ppt/notesMasters/notesMaster1.xml" Id="R50dc3b7186e640d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03d060579b64af2" /><Relationship Type="http://schemas.openxmlformats.org/officeDocument/2006/relationships/notesMaster" Target="/ppt/notesMasters/notesMaster1.xml" Id="Rc314911e8b774a8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914e13f3641462e" /><Relationship Type="http://schemas.openxmlformats.org/officeDocument/2006/relationships/notesMaster" Target="/ppt/notesMasters/notesMaster1.xml" Id="R4769b649ec744d2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f62284e3303437d" /><Relationship Type="http://schemas.openxmlformats.org/officeDocument/2006/relationships/notesMaster" Target="/ppt/notesMasters/notesMaster1.xml" Id="R93b2e2415f6f43b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b5e8668ca894e2a" /><Relationship Type="http://schemas.openxmlformats.org/officeDocument/2006/relationships/notesMaster" Target="/ppt/notesMasters/notesMaster1.xml" Id="R344f66e7537d435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90f9cd6cbdf46e1" /><Relationship Type="http://schemas.openxmlformats.org/officeDocument/2006/relationships/notesMaster" Target="/ppt/notesMasters/notesMaster1.xml" Id="R5a120cdc040144e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337ee12be13453c" /><Relationship Type="http://schemas.openxmlformats.org/officeDocument/2006/relationships/notesMaster" Target="/ppt/notesMasters/notesMaster1.xml" Id="Rbfc523df7b214e0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5b551801c91427e" /><Relationship Type="http://schemas.openxmlformats.org/officeDocument/2006/relationships/notesMaster" Target="/ppt/notesMasters/notesMaster1.xml" Id="R1e687d99c9a04c3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e3aa00e8fa74427" /><Relationship Type="http://schemas.openxmlformats.org/officeDocument/2006/relationships/notesMaster" Target="/ppt/notesMasters/notesMaster1.xml" Id="R0b5b6218e4dd48f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ed5df7637ef4c25" /><Relationship Type="http://schemas.openxmlformats.org/officeDocument/2006/relationships/notesMaster" Target="/ppt/notesMasters/notesMaster1.xml" Id="R1a2f94cda4ab4d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30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Giới thiệu bài tập lớn AIH301m. Mục tiêu: triển khai và phân tích một agent RL cổ điển trên dữ liệu mô phỏng.</a:t>
            </a:r>
          </a:p>
          <a:p xmlns:a="http://schemas.openxmlformats.org/drawingml/2006/main">
            <a:r>
              <a:t>Giang phụ trách dữ liệu, Sơn phụ trách RL, Cường phụ trách đánh giá.</a:t>
            </a:r>
          </a:p>
          <a:p xmlns:a="http://schemas.openxmlformats.org/drawingml/2006/main">
            <a:r>
              <a:t>Phạm vi: minh họa kỹ thuật, chưa hỗ trợ quyết định lâm sàng.</a:t>
            </a:r>
          </a:p>
          <a:p xmlns:a="http://schemas.openxmlformats.org/drawingml/2006/main">
            <a:r>
              <a:t>Chuyển: lựa chọn điều trị mà agent đang mô hình hóa.</a:t>
            </a:r>
          </a:p>
          <a:p xmlns:a="http://schemas.openxmlformats.org/drawingml/2006/main">
            <a:r>
              <a:t>Nguồn: AIH301m, Tài liệu dự án và cohort_manifest.json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60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Sepsis: rối loạn chức năng cơ quan đe dọa tính mạng do đáp ứng mất điều hòa với nhiễm trùng, theo phần mở đầu bài báo.</a:t>
            </a:r>
          </a:p>
          <a:p xmlns:a="http://schemas.openxmlformats.org/drawingml/2006/main">
            <a:r>
              <a:t>ICU là đơn vị hồi sức tích cực. Dịch truyền và thuốc vận mạch là hai chiều hành động nhóm mô hình hóa.</a:t>
            </a:r>
          </a:p>
          <a:p xmlns:a="http://schemas.openxmlformats.org/drawingml/2006/main">
            <a:r>
              <a:t>Liều phù hợp phụ thuộc trạng thái hiện tại và diễn biến tiếp theo. Agent chỉ xuất bin liều trong mô phỏng.</a:t>
            </a:r>
          </a:p>
          <a:p xmlns:a="http://schemas.openxmlformats.org/drawingml/2006/main">
            <a:r>
              <a:t>Chuyển: bài báo gốc và phần nhóm thực sự triển khai.</a:t>
            </a:r>
          </a:p>
          <a:p xmlns:a="http://schemas.openxmlformats.org/drawingml/2006/main">
            <a:r>
              <a:t>Nguồn: Komorowski và cs. (2018), tr. 1716–1717, DOI: 10.1038/s41591-018-0213-5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70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Bài báo Nature Medicine năm 2018 dùng dữ liệu ICU quan sát thực tế.</a:t>
            </a:r>
          </a:p>
          <a:p xmlns:a="http://schemas.openxmlformats.org/drawingml/2006/main">
            <a:r>
              <a:t>MIMIC-III: 17.083 lượt nhập ICU trong tập phát triển. eRI: 79.073 lượt trong tập kiểm tra.</a:t>
            </a:r>
          </a:p>
          <a:p xmlns:a="http://schemas.openxmlformats.org/drawingml/2006/main">
            <a:r>
              <a:t>750 trạng thái và 48 biến trong bài báo so với 75 trạng thái và 30 đặc trưng ở nhóm. Cả hai dùng 25 hành động.</a:t>
            </a:r>
          </a:p>
          <a:p xmlns:a="http://schemas.openxmlformats.org/drawingml/2006/main">
            <a:r>
              <a:t>MIMIC dùng tử vong 90 ngày, eRI dùng tử vong bệnh viện. Nhóm chỉ có outcome mô phỏng, không đồng nhất với hai endpoint đó.</a:t>
            </a:r>
          </a:p>
          <a:p xmlns:a="http://schemas.openxmlformats.org/drawingml/2006/main">
            <a:r>
              <a:t>Chuyển: lý do dùng quyết định tuần tự.</a:t>
            </a:r>
          </a:p>
          <a:p xmlns:a="http://schemas.openxmlformats.org/drawingml/2006/main">
            <a:r>
              <a:t>Nguồn: Komorowski và cs. (2018), Methods, artifacts/cohort_manifest.json, ai_policy.json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Đọc sơ đồ từ trái sang phải: trạng thái trước điều trị, hành động, trạng thái ở bước sau.</a:t>
            </a:r>
          </a:p>
          <a:p xmlns:a="http://schemas.openxmlformats.org/drawingml/2006/main">
            <a:r>
              <a:t>s_t là trạng thái, a_t là hành động, r_t là phần thưởng cho chuyển trạng thái.</a:t>
            </a:r>
          </a:p>
          <a:p xmlns:a="http://schemas.openxmlformats.org/drawingml/2006/main">
            <a:r>
              <a:t>Một hành động có thể ảnh hưởng khả năng lựa chọn tiếp theo. Outcome chỉ xuất hiện ở cuối episode.</a:t>
            </a:r>
          </a:p>
          <a:p xmlns:a="http://schemas.openxmlformats.org/drawingml/2006/main">
            <a:r>
              <a:t>Giả định Markov: trạng thái nén chứa đủ thông tin cho dự báo bước kế tiếp. K-means không chứng minh giả định này đúng trên lâm sàng.</a:t>
            </a:r>
          </a:p>
          <a:p xmlns:a="http://schemas.openxmlformats.org/drawingml/2006/main">
            <a:r>
              <a:t>Chuyển: ba module hiện thực luồng đó.</a:t>
            </a:r>
          </a:p>
          <a:p xmlns:a="http://schemas.openxmlformats.org/drawingml/2006/main">
            <a:r>
              <a:t>Nguồn: Komorowski và cs. (2018), mô hình MDP, member_1_data/synthetic_data.py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45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Module dữ liệu tạo trajectories. Module RL chỉ học từ train và lưu policy. Module đánh giá đọc policy và dữ liệu giữ lại.</a:t>
            </a:r>
          </a:p>
          <a:p xmlns:a="http://schemas.openxmlformats.org/drawingml/2006/main">
            <a:r>
              <a:t>Điểm bàn giao là các CSV và artifacts đã lưu. Không cần chạy notebook khi thuyết trình.</a:t>
            </a:r>
          </a:p>
          <a:p xmlns:a="http://schemas.openxmlformats.org/drawingml/2006/main">
            <a:r>
              <a:t>Giang: member_1_data. Sơn: member_2_rl. Cường: member_3_evaluation.</a:t>
            </a:r>
          </a:p>
          <a:p xmlns:a="http://schemas.openxmlformats.org/drawingml/2006/main">
            <a:r>
              <a:t>Chuyển: đặc điểm cụ thể của dữ liệu đang có.</a:t>
            </a:r>
          </a:p>
          <a:p xmlns:a="http://schemas.openxmlformats.org/drawingml/2006/main">
            <a:r>
              <a:t>Nguồn: README.md, member_1_data, member_2_rl, member_3_evaluation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60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Đọc cohort_manifest: synthetic-v2, 600 bệnh nhân, 30 đặc trưng, độ phân giải bốn giờ, cửa sổ tối đa 72 giờ.</a:t>
            </a:r>
          </a:p>
          <a:p xmlns:a="http://schemas.openxmlformats.org/drawingml/2006/main">
            <a:r>
              <a:t>Ví dụ đặc trưng: tuổi, MAP (huyết áp động mạch trung bình), lactate, creatinine, urine_output.</a:t>
            </a:r>
          </a:p>
          <a:p xmlns:a="http://schemas.openxmlformats.org/drawingml/2006/main">
            <a:r>
              <a:t>Không xem đây là cohort Sepsis-3 trích xuất từ hồ sơ thật. Chưa có ETL MIMIC hoàn chỉnh.</a:t>
            </a:r>
          </a:p>
          <a:p xmlns:a="http://schemas.openxmlformats.org/drawingml/2006/main">
            <a:r>
              <a:t>ETL là trích xuất, chuyển đổi và nạp dữ liệu.</a:t>
            </a:r>
          </a:p>
          <a:p xmlns:a="http://schemas.openxmlformats.org/drawingml/2006/main">
            <a:r>
              <a:t>Chuyển: chia tập và ngăn rò rỉ dữ liệu.</a:t>
            </a:r>
          </a:p>
          <a:p xmlns:a="http://schemas.openxmlformats.org/drawingml/2006/main">
            <a:r>
              <a:t>Nguồn: Mô phỏng: artifacts/cohort_manifest.json, member_1_data/synthetic_data.py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70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Mỗi bệnh nhân chỉ thuộc một tập, để các lần quan sát không rò giữa train và test.</a:t>
            </a:r>
          </a:p>
          <a:p xmlns:a="http://schemas.openxmlformats.org/drawingml/2006/main">
            <a:r>
              <a:t>Imputation bằng median, StandardScaler và K-means chỉ fit trên train. Validation/test chỉ transform bằng đối tượng đã lưu.</a:t>
            </a:r>
          </a:p>
          <a:p xmlns:a="http://schemas.openxmlformats.org/drawingml/2006/main">
            <a:r>
              <a:t>Train dùng học MDP và chính sách. Validation dùng phân tích độ nhạy. Test dùng báo cáo cuối.</a:t>
            </a:r>
          </a:p>
          <a:p xmlns:a="http://schemas.openxmlformats.org/drawingml/2006/main">
            <a:r>
              <a:t>Số hàng là số chuyển trạng thái, không phải số bệnh nhân.</a:t>
            </a:r>
          </a:p>
          <a:p xmlns:a="http://schemas.openxmlformats.org/drawingml/2006/main">
            <a:r>
              <a:t>Chuyển: mã hóa thành trạng thái và hành động rời rạc.</a:t>
            </a:r>
          </a:p>
          <a:p xmlns:a="http://schemas.openxmlformats.org/drawingml/2006/main">
            <a:r>
              <a:t>Nguồn: Mô phỏng: data/trajectories_{train,val,test}.csv, member_1_data/preprocessor.py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75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K-means gom vector 30 đặc trưng thành 75 cụm, mã trạng thái từ 0 đến 74. Các cụm không phải chẩn đoán y khoa.</a:t>
            </a:r>
          </a:p>
          <a:p xmlns:a="http://schemas.openxmlformats.org/drawingml/2006/main">
            <a:r>
              <a:t>Mỗi chiều điều trị có năm bin: không dùng và bốn mức liều dương. Ngưỡng bin chỉ học từ train.</a:t>
            </a:r>
          </a:p>
          <a:p xmlns:a="http://schemas.openxmlformats.org/drawingml/2006/main">
            <a:r>
              <a:t>Mã hành động a = 5 × bin_dịch + bin_vận_mạch. Hai bin chạy từ 0 đến 4.</a:t>
            </a:r>
          </a:p>
          <a:p xmlns:a="http://schemas.openxmlformats.org/drawingml/2006/main">
            <a:r>
              <a:t>Ví dụ bin dịch 2 và vận mạch 3 tạo hành động 13. Đây chỉ là ví dụ mã hóa.</a:t>
            </a:r>
          </a:p>
          <a:p xmlns:a="http://schemas.openxmlformats.org/drawingml/2006/main">
            <a:r>
              <a:t>Chuyển: cách biến một ICU stay thành episode.</a:t>
            </a:r>
          </a:p>
          <a:p xmlns:a="http://schemas.openxmlformats.org/drawingml/2006/main">
            <a:r>
              <a:t>Nguồn: member_1_data/state_action_encoder.py, artifacts/action_bins.json, features_schema.json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Bùi Đức Giang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Mỗi hàng chứa state, action, reward, next_state, done và định danh bệnh nhân/ICU stay.</a:t>
            </a:r>
          </a:p>
          <a:p xmlns:a="http://schemas.openxmlformats.org/drawingml/2006/main">
            <a:r>
              <a:t>state đo trước điều trị hiện tại. Tác động của a_t đi vào state ở bước kế tiếp, tránh đưa thông tin tương lai vào đầu vào hiện tại.</a:t>
            </a:r>
          </a:p>
          <a:p xmlns:a="http://schemas.openxmlformats.org/drawingml/2006/main">
            <a:r>
              <a:t>Khóa episode gồm subject_id, hadm_id, icustay_id khi có. Mỗi ICU stay có một terminal, không nối qua stay khác.</a:t>
            </a:r>
          </a:p>
          <a:p xmlns:a="http://schemas.openxmlformats.org/drawingml/2006/main">
            <a:r>
              <a:t>Hiện dữ liệu test có 90 bệnh nhân và 90 episode, nhưng hợp đồng vẫn hỗ trợ nhiều stay/bệnh nhân.</a:t>
            </a:r>
          </a:p>
          <a:p xmlns:a="http://schemas.openxmlformats.org/drawingml/2006/main">
            <a:r>
              <a:t>Chuyển thành viên: Giang kết: “Từ những trajectories này, Sơn sẽ trình bày cách xây MDP và học chính sách.”</a:t>
            </a:r>
          </a:p>
          <a:p xmlns:a="http://schemas.openxmlformats.org/drawingml/2006/main">
            <a:r>
              <a:t>Nguồn: member_1_data/trajectory_validation.py, synthetic_data.py, data/trajectories_train.csv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60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Sơn nhận phần từ Giang. MDP là Markov Decision Process.</a:t>
            </a:r>
          </a:p>
          <a:p xmlns:a="http://schemas.openxmlformats.org/drawingml/2006/main">
            <a:r>
              <a:t>S: 75 trạng thái cụm và hai terminal. A: 25 tổ hợp liều. T: chuyển trạng thái ước lượng từ train. R: phần thưởng theo chuyển. Gamma bằng 0,99.</a:t>
            </a:r>
          </a:p>
          <a:p xmlns:a="http://schemas.openxmlformats.org/drawingml/2006/main">
            <a:r>
              <a:t>Chính sách pi ánh xạ mỗi trạng thái thường sang một hành động khi train.</a:t>
            </a:r>
          </a:p>
          <a:p xmlns:a="http://schemas.openxmlformats.org/drawingml/2006/main">
            <a:r>
              <a:t>Chuyển: T được ước lượng như thế nào.</a:t>
            </a:r>
          </a:p>
          <a:p xmlns:a="http://schemas.openxmlformats.org/drawingml/2006/main">
            <a:r>
              <a:t>Nguồn: member_2_rl/mdp_builder.py, policy_iteration.py, artifacts/ai_policy.json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N(s,a,s′) là số chuyển trong train. N(s,a) là tổng theo trạng thái kế tiếp.</a:t>
            </a:r>
          </a:p>
          <a:p xmlns:a="http://schemas.openxmlformats.org/drawingml/2006/main">
            <a:r>
              <a:t>Chỉ chuẩn hóa các cặp hành động cho phép. Các cặp không hợp lệ không dùng trong argmax.</a:t>
            </a:r>
          </a:p>
          <a:p xmlns:a="http://schemas.openxmlformats.org/drawingml/2006/main">
            <a:r>
              <a:t>Tensor 77 × 25 × 77 có trục đầu là s, giữa là a, cuối là s′. 77 bằng 75 cộng hai terminal.</a:t>
            </a:r>
          </a:p>
          <a:p xmlns:a="http://schemas.openxmlformats.org/drawingml/2006/main">
            <a:r>
              <a:t>Mỗi hàng T(s,a,:) hợp lệ có tổng bằng một. Reward cùng kích thước, lưu trung bình reward của các chuyển cùng bộ ba.</a:t>
            </a:r>
          </a:p>
          <a:p xmlns:a="http://schemas.openxmlformats.org/drawingml/2006/main">
            <a:r>
              <a:t>Chuyển: với số đếm nhỏ, action masking xử lý ra sao.</a:t>
            </a:r>
          </a:p>
          <a:p xmlns:a="http://schemas.openxmlformats.org/drawingml/2006/main">
            <a:r>
              <a:t>Nguồn: Mô phỏng: member_2_rl/mdp_builder.py, artifacts/mdp_matrices.npz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Mục đích: tránh tối ưu trên các hành động có quá ít dữ liệu tại trạng thái đó.</a:t>
            </a:r>
          </a:p>
          <a:p xmlns:a="http://schemas.openxmlformats.org/drawingml/2006/main">
            <a:r>
              <a:t>Thông thường A_valid(s) chứa các a có N(s,a) ít nhất năm.</a:t>
            </a:r>
          </a:p>
          <a:p xmlns:a="http://schemas.openxmlformats.org/drawingml/2006/main">
            <a:r>
              <a:t>Nếu không a nào đạt năm nhưng có dữ liệu, code giữ hành động có số đếm lớn nhất. Năm trạng thái cụ thể: 27,28,52,58,71.</a:t>
            </a:r>
          </a:p>
          <a:p xmlns:a="http://schemas.openxmlformats.org/drawingml/2006/main">
            <a:r>
              <a:t>Có tổng 327 cặp được phép trong 75×25 cặp, tính cả fallback. Ngưỡng năm là quy tắc thực nghiệm, không bảo đảm an toàn.</a:t>
            </a:r>
          </a:p>
          <a:p xmlns:a="http://schemas.openxmlformats.org/drawingml/2006/main">
            <a:r>
              <a:t>Nếu trạng thái hoàn toàn chưa thấy, code có self-loop action0. Artifact hiện tại không có trạng thái loại này.</a:t>
            </a:r>
          </a:p>
          <a:p xmlns:a="http://schemas.openxmlformats.org/drawingml/2006/main">
            <a:r>
              <a:t>Chuyển: reward và terminal.</a:t>
            </a:r>
          </a:p>
          <a:p xmlns:a="http://schemas.openxmlformats.org/drawingml/2006/main">
            <a:r>
              <a:t>Nguồn: Mô phỏng: artifacts/ai_policy.json, mdp_matrices.npz, member_2_rl/mdp_builder.py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55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Bước chưa kết thúc nhận reward0. Chuyển cuối sang alive nhận+100, dead nhận−100.</a:t>
            </a:r>
          </a:p>
          <a:p xmlns:a="http://schemas.openxmlformats.org/drawingml/2006/main">
            <a:r>
              <a:t>Trong mã: alive=75, dead=76. Tự lặp terminal có xác suất một và reward0.</a:t>
            </a:r>
          </a:p>
          <a:p xmlns:a="http://schemas.openxmlformats.org/drawingml/2006/main">
            <a:r>
              <a:t>V terminal được giữ bằng0 vì phần thưởng đã nhận khi đi vào terminal. Không cộng lặp +100 ở các bước sau.</a:t>
            </a:r>
          </a:p>
          <a:p xmlns:a="http://schemas.openxmlformats.org/drawingml/2006/main">
            <a:r>
              <a:t>Outcome là nhãn mô phỏng, không phải tử vong90ngày quan sát thực tế.</a:t>
            </a:r>
          </a:p>
          <a:p xmlns:a="http://schemas.openxmlformats.org/drawingml/2006/main">
            <a:r>
              <a:t>Chuyển: Bellman kết hợp reward và giá trị tiếp diễn.</a:t>
            </a:r>
          </a:p>
          <a:p xmlns:a="http://schemas.openxmlformats.org/drawingml/2006/main">
            <a:r>
              <a:t>Nguồn: member_2_rl/mdp_builder.py, policy_iteration.py, member_1_data/synthetic_data.py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85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Giữ chính sách pi cố định khi đánh giá. V_pi(s) là kỳ vọng return bắt đầu tại s và theo pi.</a:t>
            </a:r>
          </a:p>
          <a:p xmlns:a="http://schemas.openxmlformats.org/drawingml/2006/main">
            <a:r>
              <a:t>s′ chạy trên tất cả trạng thái kế tiếp. T là xác suất, R là reward của chuyển, gamma=0,99.</a:t>
            </a:r>
          </a:p>
          <a:p xmlns:a="http://schemas.openxmlformats.org/drawingml/2006/main">
            <a:r>
              <a:t>V_new(s) bằng tổng có trọng số của reward cộng giá trị tiếp diễn.</a:t>
            </a:r>
          </a:p>
          <a:p xmlns:a="http://schemas.openxmlformats.org/drawingml/2006/main">
            <a:r>
              <a:t>Trong code, cập nhật từng s ngay trên mảng V (Gauss-Seidel). Công thức trên slide biểu diễn phép gán Bellman, không khẳng định cập nhật đồng bộ toàn bộ vector.</a:t>
            </a:r>
          </a:p>
          <a:p xmlns:a="http://schemas.openxmlformats.org/drawingml/2006/main">
            <a:r>
              <a:t>Delta là thay đổi tuyệt đối lớn nhất trong một lượt. Dừng khi delta&lt;10^-5. V terminal luôn bằng0.</a:t>
            </a:r>
          </a:p>
          <a:p xmlns:a="http://schemas.openxmlformats.org/drawingml/2006/main">
            <a:r>
              <a:t>Chuyển: sau khi đánh giá pi, cải thiện lựa chọn a.</a:t>
            </a:r>
          </a:p>
          <a:p xmlns:a="http://schemas.openxmlformats.org/drawingml/2006/main">
            <a:r>
              <a:t>Nguồn: member_2_rl/policy_iteration.py: evaluate_policy()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Q_pi(s,a) là giá trị thử hành động a trước, rồi theo pi ở những bước sau.</a:t>
            </a:r>
          </a:p>
          <a:p xmlns:a="http://schemas.openxmlformats.org/drawingml/2006/main">
            <a:r>
              <a:t>Dùng V đã hội tụ từ evaluation. Tính Q trên từng hành động hợp lệ. Chọn argmax.</a:t>
            </a:r>
          </a:p>
          <a:p xmlns:a="http://schemas.openxmlformats.org/drawingml/2006/main">
            <a:r>
              <a:t>Trong code, hành động không hợp lệ có Q âm vô cùng, nên không thể thắng argmax.</a:t>
            </a:r>
          </a:p>
          <a:p xmlns:a="http://schemas.openxmlformats.org/drawingml/2006/main">
            <a:r>
              <a:t>Nếu nhiều hành động bằng nhau, numpy.argmax chọn chỉ số đầu. Đây là lựa chọn xác định.</a:t>
            </a:r>
          </a:p>
          <a:p xmlns:a="http://schemas.openxmlformats.org/drawingml/2006/main">
            <a:r>
              <a:t>Chuyển: hai phép evaluation và improvement tạo vòng Policy Iteration.</a:t>
            </a:r>
          </a:p>
          <a:p xmlns:a="http://schemas.openxmlformats.org/drawingml/2006/main">
            <a:r>
              <a:t>Nguồn: member_2_rl/policy_iteration.py: improve_policy(), compute_all_q_values()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Bắt đầu từ một hành động hợp lệ đầu tiên tại mỗi trạng thái.</a:t>
            </a:r>
          </a:p>
          <a:p xmlns:a="http://schemas.openxmlformats.org/drawingml/2006/main">
            <a:r>
              <a:t>Bước1 evaluation: giữ pi, lặp Bellman đến delta&lt;1e-5. Bước2 improvement: giữ V, cập nhật pi bằng Q lớn nhất.</a:t>
            </a:r>
          </a:p>
          <a:p xmlns:a="http://schemas.openxmlformats.org/drawingml/2006/main">
            <a:r>
              <a:t>Lặp hai bước nếu còn trạng thái đổi hành động. Khi chính sách ổn định thì dừng và đánh giá lại lần cuối.</a:t>
            </a:r>
          </a:p>
          <a:p xmlns:a="http://schemas.openxmlformats.org/drawingml/2006/main">
            <a:r>
              <a:t>Giới hạn 1.000 lượt evaluation và100 vòng PI. Code báo lỗi nếu chưa hội tụ, không âm thầm xuất kết quả.</a:t>
            </a:r>
          </a:p>
          <a:p xmlns:a="http://schemas.openxmlformats.org/drawingml/2006/main">
            <a:r>
              <a:t>Chuyển: một ví dụ số để nhìn rõ phép so sánh Q.</a:t>
            </a:r>
          </a:p>
          <a:p xmlns:a="http://schemas.openxmlformats.org/drawingml/2006/main">
            <a:r>
              <a:t>Nguồn: member_2_rl/policy_iteration.py: fit(), evaluate_policy(), improve_policy()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75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Ghi rõ ví dụ toán học giả định, không phải kết quả điều trị bệnh nhân.</a:t>
            </a:r>
          </a:p>
          <a:p xmlns:a="http://schemas.openxmlformats.org/drawingml/2006/main">
            <a:r>
              <a:t>Một trạng thái s, V cũ(s)=60 và gamma0,99. Terminal có V0.</a:t>
            </a:r>
          </a:p>
          <a:p xmlns:a="http://schemas.openxmlformats.org/drawingml/2006/main">
            <a:r>
              <a:t>A có50% quay lại s với reward0 và50% vào alive với reward100. B có80% vào alive,20% vào dead.</a:t>
            </a:r>
          </a:p>
          <a:p xmlns:a="http://schemas.openxmlformats.org/drawingml/2006/main">
            <a:r>
              <a:t>Q(A)=0,5×0,99×60+0,5×100=79,7. Q(B)=0,8×100−0,2×100=60.</a:t>
            </a:r>
          </a:p>
          <a:p xmlns:a="http://schemas.openxmlformats.org/drawingml/2006/main">
            <a:r>
              <a:t>Greedy improvement chọnA trong lần so sánh này. V=60 chỉ là đầu vào của phép cập nhật, không phải nghiệm cố định của A.</a:t>
            </a:r>
          </a:p>
          <a:p xmlns:a="http://schemas.openxmlformats.org/drawingml/2006/main">
            <a:r>
              <a:t>Phụ lục29: nghiệm của A là50/(1−0,495), xấp xỉ99,01.</a:t>
            </a:r>
          </a:p>
          <a:p xmlns:a="http://schemas.openxmlformats.org/drawingml/2006/main">
            <a:r>
              <a:t>Chuyển: so sánh với chính sách hành vi bằng TD.</a:t>
            </a:r>
          </a:p>
          <a:p xmlns:a="http://schemas.openxmlformats.org/drawingml/2006/main">
            <a:r>
              <a:t>Nguồn: Ví dụ toán học giả định của nhóm, công thức: member_2_rl/policy_iteration.py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80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TD là Temporal Difference. Đây là đánh giá batch chính sách hành vi thực nghiệm, không phải Q-learning.</a:t>
            </a:r>
          </a:p>
          <a:p xmlns:a="http://schemas.openxmlformats.org/drawingml/2006/main">
            <a:r>
              <a:t>Tính target từng hàng bằng reward cộng gammaV ở next_state, triệt phần tiếp diễn nếu done.</a:t>
            </a:r>
          </a:p>
          <a:p xmlns:a="http://schemas.openxmlformats.org/drawingml/2006/main">
            <a:r>
              <a:t>Lấy trung bình các target cho mỗi cặp(s,a) đã quan sát, rồi cập nhật Q với alpha=1.</a:t>
            </a:r>
          </a:p>
          <a:p xmlns:a="http://schemas.openxmlformats.org/drawingml/2006/main">
            <a:r>
              <a:t>V(s) là trung bình Q có trọng số pi_b thực nghiệm=N(s,a)/N(s). Không dùng trung bình đều25hành động.</a:t>
            </a:r>
          </a:p>
          <a:p xmlns:a="http://schemas.openxmlformats.org/drawingml/2006/main">
            <a:r>
              <a:t>Lặp đến max|deltaV|&lt;1e-8, tối đa10.000 lượt. Pi_b thực nghiệm ở đây không phải bản smoothing dùng trong WIS.</a:t>
            </a:r>
          </a:p>
          <a:p xmlns:a="http://schemas.openxmlformats.org/drawingml/2006/main">
            <a:r>
              <a:t>Chuyển: kết quả hội tụ đã lưu của Policy Iteration.</a:t>
            </a:r>
          </a:p>
          <a:p xmlns:a="http://schemas.openxmlformats.org/drawingml/2006/main">
            <a:r>
              <a:t>Nguồn: member_2_rl/td_evaluator.py: fit(), artifacts/ai_policy.json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60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Đọc history đã lưu: số hành động đổi là53,8,0. Vòng3 stable=true, converged=true.</a:t>
            </a:r>
          </a:p>
          <a:p xmlns:a="http://schemas.openxmlformats.org/drawingml/2006/main">
            <a:r>
              <a:t>Biểu đồ là số trạng thái đổi hành động trong mỗi vòng, không phải số bệnh nhân.</a:t>
            </a:r>
          </a:p>
          <a:p xmlns:a="http://schemas.openxmlformats.org/drawingml/2006/main">
            <a:r>
              <a:t>Giá trị AI trung bình trên75trạng thái train là86,28. TD là80,99. Đây là trung bình trạng thái không trọng số, không phải return test hay OPE.</a:t>
            </a:r>
          </a:p>
          <a:p xmlns:a="http://schemas.openxmlformats.org/drawingml/2006/main">
            <a:r>
              <a:t>Không dùng chênh lệch train để kết luận hiệu quả lâm sàng.</a:t>
            </a:r>
          </a:p>
          <a:p xmlns:a="http://schemas.openxmlformats.org/drawingml/2006/main">
            <a:r>
              <a:t>Chuyển: nhìn vào code thật tạo ra các artifacts.</a:t>
            </a:r>
          </a:p>
          <a:p xmlns:a="http://schemas.openxmlformats.org/drawingml/2006/main">
            <a:r>
              <a:t>Nguồn: Mô phỏng: artifacts/ai_policy.json, history và value_scope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Nguyễn Huy Sơn</a:t>
            </a:r>
          </a:p>
          <a:p xmlns:a="http://schemas.openxmlformats.org/drawingml/2006/main">
            <a:r>
              <a:t>Thời lượng dự kiến: 45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Trích nguyên các lệnh cốt lõi từ RLTrainer.train: MDPBuilder.build_from_trajectories và PolicyIteration.fit. Dấu ba chấm chỉ lược phần truyền tham số, không trình bày như chương trình hoàn chỉnh.</a:t>
            </a:r>
          </a:p>
          <a:p xmlns:a="http://schemas.openxmlformats.org/drawingml/2006/main">
            <a:r>
              <a:t>Đọc đầu ra từ ai_policy.json: converged=true,75mục policy,history3vòng.</a:t>
            </a:r>
          </a:p>
          <a:p xmlns:a="http://schemas.openxmlformats.org/drawingml/2006/main">
            <a:r>
              <a:t>RLTrainer.export lưu policyJSON và tensorNPZ. Trình chiếu file đã lưu, không cần chạy notebook.</a:t>
            </a:r>
          </a:p>
          <a:p xmlns:a="http://schemas.openxmlformats.org/drawingml/2006/main">
            <a:r>
              <a:t>Chuyển thành viên: “Cường sẽ kiểm tra chính sách này trên dữ liệu giữ lại và giải thích vì sao WIS cao vẫn chưa đủ để kết luận.”</a:t>
            </a:r>
          </a:p>
          <a:p xmlns:a="http://schemas.openxmlformats.org/drawingml/2006/main">
            <a:r>
              <a:t>Nguồn: member_2_rl/rl_trainer.py: train(), export(), artifacts/ai_policy.json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Cường nhận phần đánh giá. π_b: xác suất hành vi ước lượng từ train, Laplace smoothing α = 0,05 trên 25 hành động.</a:t>
            </a:r>
          </a:p>
          <a:p xmlns:a="http://schemas.openxmlformats.org/drawingml/2006/main">
            <a:r>
              <a:t>π_e: policy đích mềm. Hành động PI đề xuất có xác suất 0,99, mỗi hành động khác có xác suất 0,01/24.</a:t>
            </a:r>
          </a:p>
          <a:p xmlns:a="http://schemas.openxmlformats.org/drawingml/2006/main">
            <a:r>
              <a:t>PI khi train là xác định. WIS đánh giá bản làm mềm, khác policy xác định.</a:t>
            </a:r>
          </a:p>
          <a:p xmlns:a="http://schemas.openxmlformats.org/drawingml/2006/main">
            <a:r>
              <a:t>Smoothing tránh số 0 do đếm nhưng không tạo bằng chứng cho hành động hiếm.</a:t>
            </a:r>
          </a:p>
          <a:p xmlns:a="http://schemas.openxmlformats.org/drawingml/2006/main">
            <a:r>
              <a:t>Chuyển: tỷ số xác suất theo episode trong WIS.</a:t>
            </a:r>
          </a:p>
          <a:p xmlns:a="http://schemas.openxmlformats.org/drawingml/2006/main">
            <a:r>
              <a:t>Nguồn: member_3_evaluation/behavior_policy.py, off_policy_wis.py, configs/evaluation.yaml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80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G_i: tổng reward chiết khấu của episode i, t bắt đầu từ 0. ρ_i: tích tỷ số xác suất đích / hành vi.</a:t>
            </a:r>
          </a:p>
          <a:p xmlns:a="http://schemas.openxmlformats.org/drawingml/2006/main">
            <a:r>
              <a:t>ℓ_i: tổng log xác suất đích trừ log xác suất hành vi. Chặn trên ℓ_i ở log(500) theo cấu hình, không đặt sàn.</a:t>
            </a:r>
          </a:p>
          <a:p xmlns:a="http://schemas.openxmlformats.org/drawingml/2006/main">
            <a:r>
              <a:t>w_i: trọng số chuẩn hóa. Trừ max ℓ trước exp giúp tránh lỗi số học. WIS = tổng w_i × G_i.</a:t>
            </a:r>
          </a:p>
          <a:p xmlns:a="http://schemas.openxmlformats.org/drawingml/2006/main">
            <a:r>
              <a:t>Target có xác suất 0 cho weight 0. Hành vi có xác suất 0 trên hành động quan sát là lỗi.</a:t>
            </a:r>
          </a:p>
          <a:p xmlns:a="http://schemas.openxmlformats.org/drawingml/2006/main">
            <a:r>
              <a:t>Test không có episode chạm clip. Return không phải tỷ lệ sống.</a:t>
            </a:r>
          </a:p>
          <a:p xmlns:a="http://schemas.openxmlformats.org/drawingml/2006/main">
            <a:r>
              <a:t>Chuyển: bất định của ước lượng và bootstrap theo bệnh nhân.</a:t>
            </a:r>
          </a:p>
          <a:p xmlns:a="http://schemas.openxmlformats.org/drawingml/2006/main">
            <a:r>
              <a:t>Nguồn: member_3_evaluation/off_policy_wis.py: evaluate_trajectories(), normalize_log_weights()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60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Lấy mẫu subject_id có hoàn lại. Giữ tất cả episode của mỗi bệnh nhân được chọn. Bệnh nhân xuất hiện k lần thì toàn bộ episode của họ có bội số k.</a:t>
            </a:r>
          </a:p>
          <a:p xmlns:a="http://schemas.openxmlformats.org/drawingml/2006/main">
            <a:r>
              <a:t>Mỗi lần lấy mẫu: chuẩn hóa lại trọng số WIS và tính lại trung bình return quan sát.</a:t>
            </a:r>
          </a:p>
          <a:p xmlns:a="http://schemas.openxmlformats.org/drawingml/2006/main">
            <a:r>
              <a:t>Phân vị 2,5% và 97,5% tạo khoảng 95%. Phân biệt trung vị bootstrap với point toàn test.</a:t>
            </a:r>
          </a:p>
          <a:p xmlns:a="http://schemas.openxmlformats.org/drawingml/2006/main">
            <a:r>
              <a:t>Test hiện tại: 90 bệnh nhân, 90 episode, 500 lần, seed 42. Không có bootstrap thiếu support.</a:t>
            </a:r>
          </a:p>
          <a:p xmlns:a="http://schemas.openxmlformats.org/drawingml/2006/main">
            <a:r>
              <a:t>Bootstrap không sửa thiếu overlap hoặc sai mô hình.</a:t>
            </a:r>
          </a:p>
          <a:p xmlns:a="http://schemas.openxmlformats.org/drawingml/2006/main">
            <a:r>
              <a:t>Chuyển: cách đọc bảng kết quả test.</a:t>
            </a:r>
          </a:p>
          <a:p xmlns:a="http://schemas.openxmlformats.org/drawingml/2006/main">
            <a:r>
              <a:t>Nguồn: member_3_evaluation/bootstrap_evaluator.py, configs/evaluation.yaml, evaluation_metrics.json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80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Point toàn test: WIS 91,48, return hành vi 80,73. Trung vị bootstrap có nhãn riêng, dù WIS làm tròn trùng point.</a:t>
            </a:r>
          </a:p>
          <a:p xmlns:a="http://schemas.openxmlformats.org/drawingml/2006/main">
            <a:r>
              <a:t>Khoảng 95% từ 500 patient-cluster bootstrap: WIS 88,64 đến 93,21, hành vi 72,71 đến 86,95.</a:t>
            </a:r>
          </a:p>
          <a:p xmlns:a="http://schemas.openxmlformats.org/drawingml/2006/main">
            <a:r>
              <a:t>ESS 1,90/90, low_ess = true. Khoảng nhìn hẹp không khắc phục việc vài episode chi phối.</a:t>
            </a:r>
          </a:p>
          <a:p xmlns:a="http://schemas.openxmlformats.org/drawingml/2006/main">
            <a:r>
              <a:t>KTC là khoảng tin cậy. Đơn vị là return chiết khấu, không phải phần trăm sống hoặc số mạng sống cứu được.</a:t>
            </a:r>
          </a:p>
          <a:p xmlns:a="http://schemas.openxmlformats.org/drawingml/2006/main">
            <a:r>
              <a:t>Chuyển: ESS và độ nhạy cho biết giới hạn cụ thể.</a:t>
            </a:r>
          </a:p>
          <a:p xmlns:a="http://schemas.openxmlformats.org/drawingml/2006/main">
            <a:r>
              <a:t>Nguồn: Mô phỏng: artifacts/evaluation_metrics.json, 500 patient-cluster bootstrap, percentile 95%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85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ESS: effective sample size = 1 / tổng w_i bình phương, với w đã chuẩn hóa. Test có ESS 1,896, tương đương xấp xỉ hai episode đều trọng số theo chẩn đoán này.</a:t>
            </a:r>
          </a:p>
          <a:p xmlns:a="http://schemas.openxmlformats.org/drawingml/2006/main">
            <a:r>
              <a:t>Ngưỡng cảnh báo max(10, 0,1 × số episode) chỉ là quy tắc thực nghiệm.</a:t>
            </a:r>
          </a:p>
          <a:p xmlns:a="http://schemas.openxmlformats.org/drawingml/2006/main">
            <a:r>
              <a:t>Bảng độ nhạy chỉ dùng validation. WIS quanh 93 không trộn vào WIS test 91,48.</a:t>
            </a:r>
          </a:p>
          <a:p xmlns:a="http://schemas.openxmlformats.org/drawingml/2006/main">
            <a:r>
              <a:t>ESS validation đều thấp. Clip 100, 250, 500, 1.000 cho cùng kết quả vì không episode bị clip. Điều đó chưa chứng minh tính vững.</a:t>
            </a:r>
          </a:p>
          <a:p xmlns:a="http://schemas.openxmlformats.org/drawingml/2006/main">
            <a:r>
              <a:t>Mô phỏng, thiếu overlap và mô hình hành vi ước lượng khiến nhóm chưa thể kết luận AI vượt bác sĩ.</a:t>
            </a:r>
          </a:p>
          <a:p xmlns:a="http://schemas.openxmlformats.org/drawingml/2006/main">
            <a:r>
              <a:t>Chuyển: liên hệ chênh lệch liều và tử vong.</a:t>
            </a:r>
          </a:p>
          <a:p xmlns:a="http://schemas.openxmlformats.org/drawingml/2006/main">
            <a:r>
              <a:t>Nguồn: Mô phỏng: artifacts/evaluation_metrics.json, data/sensitivity_analysis.csv (validation)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75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Mỗi episode: lấy trung bình (bin quan sát − bin AI). Đây không phải chênh lệch liều theo mL hoặc microgram.</a:t>
            </a:r>
          </a:p>
          <a:p xmlns:a="http://schemas.openxmlformats.org/drawingml/2006/main">
            <a:r>
              <a:t>Biên phân nhóm trong code: −5, −1, −0,2, 0,2, 1, 5. Các khoảng mở trái, đóng phải. Khớp nghĩa là chênh lệch trong (−0,2 đến 0,2].</a:t>
            </a:r>
          </a:p>
          <a:p xmlns:a="http://schemas.openxmlformats.org/drawingml/2006/main">
            <a:r>
              <a:t>Dịch khớp: 2/9 tử vong, 22,2%, KTC Wilson 6,3–54,7%. Vận mạch nhóm &gt; AI: 4/44, 9,1%, KTC 3,6–21,2%.</a:t>
            </a:r>
          </a:p>
          <a:p xmlns:a="http://schemas.openxmlformats.org/drawingml/2006/main">
            <a:r>
              <a:t>Không có tử vong trong mẫu nhỏ không có nghĩa nguy cơ bằng 0. Trạng thái bệnh ảnh hưởng cả liều và outcome, nên không suy ra nhân quả.</a:t>
            </a:r>
          </a:p>
          <a:p xmlns:a="http://schemas.openxmlformats.org/drawingml/2006/main">
            <a:r>
              <a:t>Chuyển: kết luận và các bước còn thiếu.</a:t>
            </a:r>
          </a:p>
          <a:p xmlns:a="http://schemas.openxmlformats.org/drawingml/2006/main">
            <a:r>
              <a:t>Nguồn: Mô phỏng: figures/mortality_bin_summary.csv, member_3_evaluation/visualizer.py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65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ML: biểu diễn K-means và tối ưu policy trong MDP. Thống kê sinh học: bootstrap theo bệnh nhân, ESS, Wilson và giới hạn nhân quả. Lập trình: hợp đồng trajectory, masking, kiểm tra hội tụ và artifacts.</a:t>
            </a:r>
          </a:p>
          <a:p xmlns:a="http://schemas.openxmlformats.org/drawingml/2006/main">
            <a:r>
              <a:t>Nhóm có pipeline RL cổ điển minh họa kỹ thuật. Chưa có clinical trial, kiểm chứng ngoài bệnh viện hoặc bảo đảm HCOPE.</a:t>
            </a:r>
          </a:p>
          <a:p xmlns:a="http://schemas.openxmlformats.org/drawingml/2006/main">
            <a:r>
              <a:t>HCOPE: High Confidence Off-Policy Evaluation. Nhóm chưa chứng minh các giả định cho bảo đảm đánh giá này.</a:t>
            </a:r>
          </a:p>
          <a:p xmlns:a="http://schemas.openxmlformats.org/drawingml/2006/main">
            <a:r>
              <a:t>Bước tiếp: cohort thật và ETL có thẩm định, đánh giá thiên lệch / overlap, xác nhận ngoài mẫu và quy trình thử nghiệm an toàn với chuyên gia lâm sàng.</a:t>
            </a:r>
          </a:p>
          <a:p xmlns:a="http://schemas.openxmlformats.org/drawingml/2006/main">
            <a:r>
              <a:t>Chuyển: tài liệu tham khảo và kết thúc phần 30 phút.</a:t>
            </a:r>
          </a:p>
          <a:p xmlns:a="http://schemas.openxmlformats.org/drawingml/2006/main">
            <a:r>
              <a:t>Nguồn: README.md, artifacts/cohort_manifest.json, evaluation_metrics.json, Komorowski và cs. (2018)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Cường</a:t>
            </a:r>
          </a:p>
          <a:p xmlns:a="http://schemas.openxmlformats.org/drawingml/2006/main">
            <a:r>
              <a:t>Thời lượng dự kiến: 30 giây.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Nguồn chính: Komorowski và cộng sự, Nature Medicine 2018. DOI trên slide có thể mở.</a:t>
            </a:r>
          </a:p>
          <a:p xmlns:a="http://schemas.openxmlformats.org/drawingml/2006/main">
            <a:r>
              <a:t>Nguồn nhóm: manifest, policy JSON, evaluation metrics, trajectory CSV, sensitivity CSV và mortality summary CSV trong thư mục dự án.</a:t>
            </a:r>
          </a:p>
          <a:p xmlns:a="http://schemas.openxmlformats.org/drawingml/2006/main">
            <a:r>
              <a:t>Yêu cầu bài: docs/AI_in_Healthcare_Assignment 2 Brief.docx, môn AIH301m.</a:t>
            </a:r>
          </a:p>
          <a:p xmlns:a="http://schemas.openxmlformats.org/drawingml/2006/main">
            <a:r>
              <a:t>Kết: “Nhóm xin kết thúc phần trình bày và sẵn sàng trao đổi về công thức, code xử lý và giới hạn đánh giá.”</a:t>
            </a:r>
          </a:p>
          <a:p xmlns:a="http://schemas.openxmlformats.org/drawingml/2006/main">
            <a:r>
              <a:t>Chỉ mở phụ lục khi cần trả lời câu hỏi.</a:t>
            </a:r>
          </a:p>
          <a:p xmlns:a="http://schemas.openxmlformats.org/drawingml/2006/main">
            <a:r>
              <a:t>Nguồn: Bài báo gốc trong docs, artifacts và CSV hiện có của nhóm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Nhóm</a:t>
            </a:r>
          </a:p>
          <a:p xmlns:a="http://schemas.openxmlformats.org/drawingml/2006/main">
            <a:r>
              <a:t>Thời lượng dự kiến: 0 giây (phụ lục, ngoài 30 phút).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Dùng để giải thích lại slide 17 khi hỏi đáp. A tự lặp 50% với reward 0, vào sống 50% với reward 100.</a:t>
            </a:r>
          </a:p>
          <a:p xmlns:a="http://schemas.openxmlformats.org/drawingml/2006/main">
            <a:r>
              <a:t>V_A = 0,5 × 0,99V_A + 50, suy ra 0,505V_A = 50 và V_A ≈ 99,01.</a:t>
            </a:r>
          </a:p>
          <a:p xmlns:a="http://schemas.openxmlformats.org/drawingml/2006/main">
            <a:r>
              <a:t>Slide 17 dùng V cũ = 60 để tính một lần Q(A) = 79,7. Phân biệt một lần cập nhật với nghiệm cố định.</a:t>
            </a:r>
          </a:p>
          <a:p xmlns:a="http://schemas.openxmlformats.org/drawingml/2006/main">
            <a:r>
              <a:t>Nghiệm của B là 60 do chuyển thẳng sang terminal. Đây là ví dụ toán học giả định.</a:t>
            </a:r>
          </a:p>
          <a:p xmlns:a="http://schemas.openxmlformats.org/drawingml/2006/main">
            <a:r>
              <a:t>Nguồn: Ví dụ toán học giả định, member_2_rl/policy_iteration.py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Nhóm</a:t>
            </a:r>
          </a:p>
          <a:p xmlns:a="http://schemas.openxmlformats.org/drawingml/2006/main">
            <a:r>
              <a:t>Thời lượng dự kiến: 0 giây (phụ lục, ngoài 30 phút).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Giang giải thích module dữ liệu, Sơn giải thích MDP / PI / TD, Cường giải thích WIS / bootstrap.</a:t>
            </a:r>
          </a:p>
          <a:p xmlns:a="http://schemas.openxmlformats.org/drawingml/2006/main">
            <a:r>
              <a:t>Các đường dẫn nằm trong repo. Tìm trực tiếp tên hàm khi cần đối chiếu.</a:t>
            </a:r>
          </a:p>
          <a:p xmlns:a="http://schemas.openxmlformats.org/drawingml/2006/main">
            <a:r>
              <a:t>Trích lược ở slide 20 lấy từ RLTrainer.train. RLTrainer.export lưu artifacts đã dùng.</a:t>
            </a:r>
          </a:p>
          <a:p xmlns:a="http://schemas.openxmlformats.org/drawingml/2006/main">
            <a:r>
              <a:t>Nguồn: Source code hiện có trong member_1_data, member_2_rl và member_3_evaluation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Nhóm</a:t>
            </a:r>
          </a:p>
          <a:p xmlns:a="http://schemas.openxmlformats.org/drawingml/2006/main">
            <a:r>
              <a:t>Thời lượng dự kiến: 0 giây (phụ lục, ngoài 30 phút).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Trajectories cần subject_id, time_step, state, action, next_state, reward và done. Các khóa stay dùng thêm nếu có.</a:t>
            </a:r>
          </a:p>
          <a:p xmlns:a="http://schemas.openxmlformats.org/drawingml/2006/main">
            <a:r>
              <a:t>Validator kiểm tra số hữu hạn, mã nguyên đúng miền, bước thời gian không âm và liên tiếp, next_state nối đúng, chỉ một done ở cuối và next_state cuối là terminal.</a:t>
            </a:r>
          </a:p>
          <a:p xmlns:a="http://schemas.openxmlformats.org/drawingml/2006/main">
            <a:r>
              <a:t>Lưu ý: validator hiện không bắt buộc bước đầu bằng 0, cũng không đối chiếu reward ±100 với outcome. Không trình bày các điều đó như kiểm tra đã có.</a:t>
            </a:r>
          </a:p>
          <a:p xmlns:a="http://schemas.openxmlformats.org/drawingml/2006/main">
            <a:r>
              <a:t>Bộ test_regressions.py có 19 ca unittest, gồm TD/Bellman, WIS log-weight, bootstrap nhiều stay, hợp đồng dữ liệu và luồng tích hợp nhỏ.</a:t>
            </a:r>
          </a:p>
          <a:p xmlns:a="http://schemas.openxmlformats.org/drawingml/2006/main">
            <a:r>
              <a:t>Kiểm thử phần mềm không chứng minh hiệu quả lâm sàng.</a:t>
            </a:r>
          </a:p>
          <a:p xmlns:a="http://schemas.openxmlformats.org/drawingml/2006/main">
            <a:r>
              <a:t>Nguồn: member_1_data/trajectory_validation.py, test_regressions.py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Người trình bày: Nhóm</a:t>
            </a:r>
          </a:p>
          <a:p xmlns:a="http://schemas.openxmlformats.org/drawingml/2006/main">
            <a:r>
              <a:t>Thời lượng dự kiến: 0 giây (phụ lục, ngoài 30 phút).</a:t>
            </a:r>
          </a:p>
          <a:p xmlns:a="http://schemas.openxmlformats.org/drawingml/2006/main">
            <a:r>
              <a:t>Ý chính để tự nói:</a:t>
            </a:r>
          </a:p>
          <a:p xmlns:a="http://schemas.openxmlformats.org/drawingml/2006/main">
            <a:r>
              <a:t>Phân công trả lời: Giang về dữ liệu và chia tập, Sơn về PI / TD / reward, Cường về ESS / WIS / nhân quả.</a:t>
            </a:r>
          </a:p>
          <a:p xmlns:a="http://schemas.openxmlformats.org/drawingml/2006/main">
            <a:r>
              <a:t>Triển khai bệnh viện: nhóm chưa có bằng chứng cho việc đó.</a:t>
            </a:r>
          </a:p>
          <a:p xmlns:a="http://schemas.openxmlformats.org/drawingml/2006/main">
            <a:r>
              <a:t>WIS cao, ESS thấp: nhấn mạnh trọng số tập trung. Bootstrap không sửa thiếu overlap.</a:t>
            </a:r>
          </a:p>
          <a:p xmlns:a="http://schemas.openxmlformats.org/drawingml/2006/main">
            <a:r>
              <a:t>HCOPE: nhóm chưa chứng minh các giả định hay bảo đảm. Không dùng cận dưới bootstrap làm cam kết an toàn.</a:t>
            </a:r>
          </a:p>
          <a:p xmlns:a="http://schemas.openxmlformats.org/drawingml/2006/main">
            <a:r>
              <a:t>Nguồn: Đối chiếu README.md, code và artifacts của nhóm</a:t>
            </a:r>
          </a:p>
          <a:p xmlns:a="http://schemas.openxmlformats.org/drawingml/2006/main">
            <a:r>
              <a:t>Thư mục gốc của các đường dẫn: C:\Users\ADMIN\Desktop\ass2.</a:t>
            </a:r>
          </a:p>
          <a:p xmlns:a="http://schemas.openxmlformats.org/drawingml/2006/main">
            <a:r>
              <a:t>Bài báo gốc: docs/AI_in_Healthcare_Paper for Assignment 2.pdf. DOI: 10.1038/s41591-018-0213-5.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8cb0bb46d243a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f47ee87b7f4b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d13cc5ea749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38625b18254d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27b0fb3a66431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034af5abb6444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B0AA22-328C-4D75-B284-FBEB1EFD97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6FC211C-1253-470C-B7C1-ECF0FA0CA6A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65EBC2-7770-4235-B37A-F023FEA8AE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C6328C-535B-401B-A6AD-DA3175A05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5E47B4-85FA-40DD-806F-596CDE4ED6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C14868-150E-406E-BC5A-A3CBF7C840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BB0AC8-1A8F-4690-A610-427909830D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88EDE0-B4FC-43EE-A588-78CD908305A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6956EA-6735-4120-BB9A-5E6E47618B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3B19A7-E2FC-4FAD-9D08-2E098BA204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0cf4ccb50d4a05" /><Relationship Type="http://schemas.openxmlformats.org/officeDocument/2006/relationships/slideLayout" Target="/ppt/slideLayouts/slideLayout1.xml" Id="R6b3bbb76c2824dcb" /><Relationship Type="http://schemas.openxmlformats.org/officeDocument/2006/relationships/slideLayout" Target="/ppt/slideLayouts/slideLayout2.xml" Id="R6b5df5cf7d1b42c7" /><Relationship Type="http://schemas.openxmlformats.org/officeDocument/2006/relationships/slideLayout" Target="/ppt/slideLayouts/slideLayout3.xml" Id="R918438ade3234ccd" /><Relationship Type="http://schemas.openxmlformats.org/officeDocument/2006/relationships/slideLayout" Target="/ppt/slideLayouts/slideLayout4.xml" Id="R008389b7f1264a25" /><Relationship Type="http://schemas.openxmlformats.org/officeDocument/2006/relationships/slideLayout" Target="/ppt/slideLayouts/slideLayout5.xml" Id="R3ad0f9f96a244017" /><Relationship Type="http://schemas.openxmlformats.org/officeDocument/2006/relationships/slideLayout" Target="/ppt/slideLayouts/slideLayout6.xml" Id="R2c081a3c8f6b4b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3bbb76c2824dcb"/>
    <p:sldLayoutId xmlns:r="http://schemas.openxmlformats.org/officeDocument/2006/relationships" id="2147483650" r:id="R6b5df5cf7d1b42c7"/>
    <p:sldLayoutId xmlns:r="http://schemas.openxmlformats.org/officeDocument/2006/relationships" id="2147483651" r:id="R918438ade3234ccd"/>
    <p:sldLayoutId xmlns:r="http://schemas.openxmlformats.org/officeDocument/2006/relationships" id="2147483652" r:id="R008389b7f1264a25"/>
    <p:sldLayoutId xmlns:r="http://schemas.openxmlformats.org/officeDocument/2006/relationships" id="2147483653" r:id="R3ad0f9f96a244017"/>
    <p:sldLayoutId xmlns:r="http://schemas.openxmlformats.org/officeDocument/2006/relationships" id="2147483654" r:id="R2c081a3c8f6b4b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716a99fd744041" /><Relationship Type="http://schemas.openxmlformats.org/officeDocument/2006/relationships/notesSlide" Target="/ppt/notesSlides/notesSlide1.xml" Id="R98ff5cb176314b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974422d034db3" /><Relationship Type="http://schemas.openxmlformats.org/officeDocument/2006/relationships/notesSlide" Target="/ppt/notesSlides/notesSlide2.xml" Id="R430ccf3b17d74d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32946f8a7f4008" /><Relationship Type="http://schemas.openxmlformats.org/officeDocument/2006/relationships/notesSlide" Target="/ppt/notesSlides/notesSlide3.xml" Id="Rb97d198b6c364f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f3717136c455d" /><Relationship Type="http://schemas.openxmlformats.org/officeDocument/2006/relationships/notesSlide" Target="/ppt/notesSlides/notesSlide4.xml" Id="R3beab9930d1342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ec7f36d5de4bb7" /><Relationship Type="http://schemas.openxmlformats.org/officeDocument/2006/relationships/notesSlide" Target="/ppt/notesSlides/notesSlide5.xml" Id="R4d67599d41c44f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db72ab946849be" /><Relationship Type="http://schemas.openxmlformats.org/officeDocument/2006/relationships/notesSlide" Target="/ppt/notesSlides/notesSlide6.xml" Id="R93d1719ad5a74d8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17d8f97584001" /><Relationship Type="http://schemas.openxmlformats.org/officeDocument/2006/relationships/notesSlide" Target="/ppt/notesSlides/notesSlide7.xml" Id="Red45b5481d6143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e3f18002c46cd" /><Relationship Type="http://schemas.openxmlformats.org/officeDocument/2006/relationships/notesSlide" Target="/ppt/notesSlides/notesSlide8.xml" Id="R3413c0b14a594b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ca8815f9904dfa" /><Relationship Type="http://schemas.openxmlformats.org/officeDocument/2006/relationships/notesSlide" Target="/ppt/notesSlides/notesSlide9.xml" Id="R4ce7f5d8f03e4c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55173b5374935" /><Relationship Type="http://schemas.openxmlformats.org/officeDocument/2006/relationships/notesSlide" Target="/ppt/notesSlides/notesSlide10.xml" Id="Rf5a5ec9e55a14a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8c64187a9c4c97" /><Relationship Type="http://schemas.openxmlformats.org/officeDocument/2006/relationships/notesSlide" Target="/ppt/notesSlides/notesSlide11.xml" Id="R0d8f30505e874c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687952d5d2495d" /><Relationship Type="http://schemas.openxmlformats.org/officeDocument/2006/relationships/notesSlide" Target="/ppt/notesSlides/notesSlide12.xml" Id="Rd9e78af503fe4b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161583439842e0" /><Relationship Type="http://schemas.openxmlformats.org/officeDocument/2006/relationships/notesSlide" Target="/ppt/notesSlides/notesSlide13.xml" Id="R3c814f731fa34e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660b9cf76d4953" /><Relationship Type="http://schemas.openxmlformats.org/officeDocument/2006/relationships/notesSlide" Target="/ppt/notesSlides/notesSlide14.xml" Id="R31401e5edcbc40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cb7df851314bd5" /><Relationship Type="http://schemas.openxmlformats.org/officeDocument/2006/relationships/notesSlide" Target="/ppt/notesSlides/notesSlide15.xml" Id="Re7d9ceb79a894d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a0c393e8854937" /><Relationship Type="http://schemas.openxmlformats.org/officeDocument/2006/relationships/notesSlide" Target="/ppt/notesSlides/notesSlide16.xml" Id="R44ba89ed94f44fd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84ec6a9d446ea" /><Relationship Type="http://schemas.openxmlformats.org/officeDocument/2006/relationships/notesSlide" Target="/ppt/notesSlides/notesSlide17.xml" Id="Rf42f1de87769424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b7565069d84421" /><Relationship Type="http://schemas.openxmlformats.org/officeDocument/2006/relationships/notesSlide" Target="/ppt/notesSlides/notesSlide18.xml" Id="R65fff98bbcd549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1bde50843f452c" /><Relationship Type="http://schemas.openxmlformats.org/officeDocument/2006/relationships/chart" Target="/ppt/slides/charts/chart1.xml" Id="R8be532ee79f64781" /><Relationship Type="http://schemas.openxmlformats.org/officeDocument/2006/relationships/notesSlide" Target="/ppt/notesSlides/notesSlide19.xml" Id="Rb58b340e1d0748d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f94fe1a6a24884" /><Relationship Type="http://schemas.openxmlformats.org/officeDocument/2006/relationships/notesSlide" Target="/ppt/notesSlides/notesSlide20.xml" Id="Rde45844fd8b04d0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e8e20fb4374700" /><Relationship Type="http://schemas.openxmlformats.org/officeDocument/2006/relationships/notesSlide" Target="/ppt/notesSlides/notesSlide21.xml" Id="R31251669263a440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a929dff404364" /><Relationship Type="http://schemas.openxmlformats.org/officeDocument/2006/relationships/notesSlide" Target="/ppt/notesSlides/notesSlide22.xml" Id="Rca30f0ccf73a401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1d75749a6e444e" /><Relationship Type="http://schemas.openxmlformats.org/officeDocument/2006/relationships/notesSlide" Target="/ppt/notesSlides/notesSlide23.xml" Id="R6c4121f50bb84db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14b8e3e79d4f26" /><Relationship Type="http://schemas.openxmlformats.org/officeDocument/2006/relationships/notesSlide" Target="/ppt/notesSlides/notesSlide24.xml" Id="Rcc313329f8ac42f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c2650222b4c5a" /><Relationship Type="http://schemas.openxmlformats.org/officeDocument/2006/relationships/notesSlide" Target="/ppt/notesSlides/notesSlide25.xml" Id="Ra7da9be1d2b9492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c1195543a4556" /><Relationship Type="http://schemas.openxmlformats.org/officeDocument/2006/relationships/notesSlide" Target="/ppt/notesSlides/notesSlide26.xml" Id="Rc8c29e0493d1483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4bb44613d84f95" /><Relationship Type="http://schemas.openxmlformats.org/officeDocument/2006/relationships/notesSlide" Target="/ppt/notesSlides/notesSlide27.xml" Id="Rfc3f2e839153438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a9559c5b124dd9" /><Relationship Type="http://schemas.openxmlformats.org/officeDocument/2006/relationships/hyperlink" Target="https://doi.org/10.1038/s41591-018-0213-5" TargetMode="External" Id="Re073e705b3924173" /><Relationship Type="http://schemas.openxmlformats.org/officeDocument/2006/relationships/notesSlide" Target="/ppt/notesSlides/notesSlide28.xml" Id="R101761e80f324ba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b0eb2d6164041" /><Relationship Type="http://schemas.openxmlformats.org/officeDocument/2006/relationships/notesSlide" Target="/ppt/notesSlides/notesSlide29.xml" Id="R3def102a7a5744d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f29be8eb7848ad" /><Relationship Type="http://schemas.openxmlformats.org/officeDocument/2006/relationships/notesSlide" Target="/ppt/notesSlides/notesSlide30.xml" Id="R8ce431028e9e41ea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ee436f551b42b4" /><Relationship Type="http://schemas.openxmlformats.org/officeDocument/2006/relationships/notesSlide" Target="/ppt/notesSlides/notesSlide31.xml" Id="Rc4c5ecb288bf4e5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f44d67b3e4876" /><Relationship Type="http://schemas.openxmlformats.org/officeDocument/2006/relationships/notesSlide" Target="/ppt/notesSlides/notesSlide32.xml" Id="R124b87efc34a4c4c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00">
                <a:solidFill>
                  <a:srgbClr val="263238"/>
                </a:solidFill>
                <a:latin typeface="Arial"/>
                <a:ea typeface="Arial"/>
                <a:cs typeface="Arial"/>
              </a:rPr>
              <a:t>Số trạng thái đổi hành động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00">
              <a:solidFill>
                <a:srgbClr val="263238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Trạng thái đổi hành động</c:v>
          </c:tx>
          <c:spPr>
            <a:solidFill xmlns:a="http://schemas.openxmlformats.org/drawingml/2006/main">
              <a:srgbClr val="087F83"/>
            </a:solidFill>
          </c:spPr>
          <c:invertIfNegative val="0"/>
          <c:cat>
            <c:strLit>
              <c:ptCount val="3"/>
              <c:pt idx="0">
                <c:v>Vòng 1</c:v>
              </c:pt>
              <c:pt idx="1">
                <c:v>Vòng 2</c:v>
              </c:pt>
              <c:pt idx="2">
                <c:v>Vòng 3</c:v>
              </c:pt>
            </c:strLit>
          </c:cat>
          <c:val>
            <c:numLit>
              <c:formatCode>0</c:formatCode>
              <c:ptCount val="3"/>
              <c:pt idx="0">
                <c:v>53</c:v>
              </c:pt>
              <c:pt idx="1">
                <c:v>8</c:v>
              </c:pt>
              <c:pt idx="2">
                <c:v>0</c:v>
              </c:pt>
            </c:numLit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00" b="1">
                  <a:solidFill>
                    <a:srgbClr val="263238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5DF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xmlns:a="http://schemas.openxmlformats.org/drawingml/2006/main" w="7620">
              <a:solidFill>
                <a:srgbClr val="D5DFE0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56A9A5E3-DAB4-47B8-BA16-7D422B6A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AI Clinician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51B3C9F-3EAC-4625-99BC-17ADC28A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AIH301m, Tài liệu dự án và cohort_manifest.json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3ABD4BE-DC8A-4B5F-85D5-AE22B374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1DDC7FC-B942-4C0C-83F9-EBA5138D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Học chính sách dịch truyền và thuốc vận mạch</a:t>
            </a:r>
          </a:p>
          <a:p xmlns:a="http://schemas.openxmlformats.org/drawingml/2006/main">
            <a: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cho bài toán sepsis trong ICU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EE6B58-C131-4E08-9737-9F63B2B8B093}"/>
              </a:ext>
            </a:extLst>
          </p:cNvPr>
          <p:cNvGraphicFramePr/>
          <p:nvPr/>
        </p:nvGraphicFramePr>
        <p:xfrm>
          <a:off xmlns:a="http://schemas.openxmlformats.org/drawingml/2006/main" x="609600" y="3067050"/>
          <a:ext xmlns:a="http://schemas.openxmlformats.org/drawingml/2006/main" cx="1097280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5924550"/>
                <a:gridCol w="1714500"/>
              </a:tblGrid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Thành viên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Phần phụ trách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Slide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Bùi Đức Giang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 1: dữ liệu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1–9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Nguyễn Huy Sơn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 2: học tăng cường (RL)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10–20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Cường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 3: đánh giá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21–28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112D9D3-A924-4451-9415-2CBF798E8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Bản triển khai mô phỏng phục vụ học tập</a:t>
            </a:r>
          </a:p>
        </p:txBody>
      </p:sp>
    </p:spTree>
    <p:extLst>
      <p:ext uri="{BB962C8B-B14F-4D97-AF65-F5344CB8AC3E}">
        <p14:creationId xmlns:p14="http://schemas.microsoft.com/office/powerpoint/2010/main" val="984956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40A569A6-C8F1-4FDA-BB20-1DB53490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Bài toán điều trị sepsis trong ICU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1FF8DEA-20B7-417D-84E3-CBD64C0F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Komorowski và cs. (2018), tr. 1716–1717, DOI: 10.1038/s41591-018-0213-5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50D9CB6-1ED9-4D3E-9C2D-DC2E6B40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E4720B7F-B8B1-403A-9D0D-CD2127E7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D8CF557-41F7-4A14-8306-652405B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85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Các chỉ số sinh lý và xét nghiệm mô tả trạng thái bệnh nhân.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50620EC-F7C2-41FB-B553-F0958322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Quyết định mỗi bốn giờ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346DC4D-34DC-4B88-B5DC-59572625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1085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Chọn mức dịch truyền và mức thuốc vận mạch.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DC421BE5-7F8D-4FF5-9D9F-ABF6F78C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Mục tiêu của mô hình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BD3E1722-6CBF-4B72-9ED1-FBE6193D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8585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Tối đa hóa tổng phần thưởng chiết khấu theo diễn biến episode.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B219A631-0060-4DAE-8975-BA5AFE77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Khuyến nghị mô phỏng không phải đơn thuốc hay chỉ định điều trị</a:t>
            </a:r>
          </a:p>
        </p:txBody>
      </p:sp>
    </p:spTree>
    <p:extLst>
      <p:ext uri="{BB962C8B-B14F-4D97-AF65-F5344CB8AC3E}">
        <p14:creationId xmlns:p14="http://schemas.microsoft.com/office/powerpoint/2010/main" val="6029052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1052EA45-8B39-48CE-B1D8-9B31E9F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Nghiên cứu gốc và phạm vi của nhóm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9DC9258-ABC0-4235-B47D-8475B257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Komorowski và cs. (2018), Methods, artifacts/cohort_manifest.json, ai_policy.json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8EB327E-73E2-4CB9-A2B9-187A6201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4866F-EAD7-41EA-A796-23121EBF30F8}"/>
              </a:ext>
            </a:extLst>
          </p:cNvPr>
          <p:cNvGraphicFramePr/>
          <p:nvPr/>
        </p:nvGraphicFramePr>
        <p:xfrm>
          <a:off xmlns:a="http://schemas.openxmlformats.org/drawingml/2006/main" x="609600" y="15049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219575"/>
                <a:gridCol w="4562475"/>
              </a:tblGrid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Khía cạnh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Komorowski (2018)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Bản triển khai của nhóm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Dữ liệu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MIMIC-III và eRI thực tế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600 bệnh nhân mô phỏng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Biểu diễn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48 biến, 750 trạng thái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30 đặc trưng, 75 trạng thái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Thuật toán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MDP, Policy Iteration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MDP, Policy Iteration, TD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Giá trị bằng chứng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Nghiên cứu dữ liệu quan sát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Minh họa kỹ thuật RL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9A6534E-C308-4645-B098-719314F4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Nhóm chưa tái lập toàn bộ nghiên cứu và chưa có kiểm chứng lâm sàng</a:t>
            </a:r>
          </a:p>
        </p:txBody>
      </p:sp>
    </p:spTree>
    <p:extLst>
      <p:ext uri="{BB962C8B-B14F-4D97-AF65-F5344CB8AC3E}">
        <p14:creationId xmlns:p14="http://schemas.microsoft.com/office/powerpoint/2010/main" val="1976561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">
            <a:extLst xmlns:a="http://schemas.openxmlformats.org/drawingml/2006/main">
              <a:ext uri="{FF2B5EF4-FFF2-40B4-BE49-F238E27FC236}">
                <a16:creationId xmlns:a16="http://schemas.microsoft.com/office/drawing/2014/main" id="{9EA07BB1-A2C8-42E6-962C-1E11408C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Quyết định tuần tự và kết quả đến muộn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CE68CC6-2519-41DD-B6CD-3D4187C7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Komorowski và cs. (2018), mô hình MDP, member_1_data/synthetic_data.py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AE45F5F-0316-47DD-B5E2-C3335721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3DA9E-9D32-4729-83F3-7C859BE3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F83"/>
            </a:solidFill>
          </a:ln>
        </p:spPr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05A1C33-6955-4AC3-BB93-5B6B3BA1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0502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Trạng thái sₜ</a:t>
            </a:r>
          </a:p>
          <a:p xmlns:a="http://schemas.openxmlformats.org/drawingml/2006/main">
            <a: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trước điều trị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1DFA7-8E64-4774-9473-F583F4E1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3357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F83"/>
            </a:solidFill>
          </a:ln>
        </p:spPr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D33A7AD7-B274-4CDC-8B04-1DCD2C5B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0502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Hành động aₜ</a:t>
            </a:r>
          </a:p>
          <a:p xmlns:a="http://schemas.openxmlformats.org/drawingml/2006/main">
            <a: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hai mức liều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A9109-0836-4990-B817-F3D310F6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33575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87F83"/>
            </a:solidFill>
          </a:ln>
        </p:spPr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4D1364AD-33C6-4365-9894-86DACF54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105025"/>
            <a:ext cx="2800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Trạng thái sₜ₊₁</a:t>
            </a:r>
          </a:p>
          <a:p xmlns:a="http://schemas.openxmlformats.org/drawingml/2006/main">
            <a:pPr>
              <a:defRPr sz="22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sau tác động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387F9-7339-4D09-A87E-6FD639E3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09825"/>
            <a:ext cx="7715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87F8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19DC7-CA33-4E01-BEA5-3A786EF5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09825"/>
            <a:ext cx="7715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87F83"/>
            </a:solidFill>
          </a:ln>
        </p:spPr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3B23A0FD-281B-483D-950F-936FC4CC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Phản hồi điều trị đi vào bước tiếp theo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B1A4FDA6-D399-44E8-82FB-0B89A773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76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Các bước giữa có r = 0.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Kết quả kết thúc episode tạo r = +100 hoặc −100.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92E4194B-CD04-43F3-8801-F6279E57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Biểu diễn Markov là giả định của mô hình</a:t>
            </a:r>
          </a:p>
        </p:txBody>
      </p:sp>
    </p:spTree>
    <p:extLst>
      <p:ext uri="{BB962C8B-B14F-4D97-AF65-F5344CB8AC3E}">
        <p14:creationId xmlns:p14="http://schemas.microsoft.com/office/powerpoint/2010/main" val="680778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DF1D0306-62D4-40EE-A0F9-6D14A62B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Luồng xử lý và trách nhiệm ba module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3194CEE-20B3-44BB-892F-91732C4F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README.md, member_1_data, member_2_rl, member_3_evaluation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DB0746E-6C86-48A3-B9BA-5EF0EFA5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4D76A62-4C7C-4371-B05C-5982BEBDF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01  Bùi Đức Giang: dữ liệu và biểu diễn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463F47C-6D89-439F-B435-9ECE3788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Mô phỏng, chia tập, xử lý thiếu, chuẩn hóa, mã hóa trạng thái và hành động.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4276E00-AD1C-4801-875F-0DE492B9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02  Nguyễn Huy Sơn: agent RL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DBC9E66-6ADC-4E02-9368-FB2D43A96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Tạo MDP, action masking, Policy Iteration và TD. Lưu chính sách.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E9955E2B-3D0F-48AC-87FD-66E6A569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03  Cường: đánh giá và diễn giải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02599A71-7AE6-4AB2-92B8-4E302DAA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Ước lượng hành vi, WIS, bootstrap, ESS và phân tích giới hạn.</a:t>
            </a:r>
          </a:p>
        </p:txBody>
      </p:sp>
    </p:spTree>
    <p:extLst>
      <p:ext uri="{BB962C8B-B14F-4D97-AF65-F5344CB8AC3E}">
        <p14:creationId xmlns:p14="http://schemas.microsoft.com/office/powerpoint/2010/main" val="1336173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4F6BD26A-2FAD-4C4C-ACE0-3CF5CB7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Dữ liệu mô phỏng hiện có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FBC14F0-8E4F-4F0D-ABD8-62F15B95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artifacts/cohort_manifest.json, member_1_data/synthetic_data.py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1A8C853-627C-4D9D-AAE0-C6CD3CF7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F7521A8C-140B-4B46-8F1E-ACA413D02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58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BB267B13-CDEF-4C5A-AFDA-0896AA35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bệnh nhân mô phỏng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04465B51-B1CE-4BD4-AEB6-861D96DA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5238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30 đặc trưng</a:t>
            </a:r>
          </a:p>
          <a:p xmlns:a="http://schemas.openxmlformats.org/drawingml/2006/main">
            <a: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Bước thời gian: 4 giờ</a:t>
            </a:r>
          </a:p>
          <a:p xmlns:a="http://schemas.openxmlformats.org/drawingml/2006/main">
            <a:pPr>
              <a:defRPr sz="26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Cửa sổ tối đa: 72 giờ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4AC29FBD-D2CA-4D56-B425-443F66AC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Đặc trưng gồm chỉ số sinh lý, xét nghiệm</a:t>
            </a:r>
          </a:p>
          <a:p xmlns:a="http://schemas.openxmlformats.org/drawingml/2006/main">
            <a: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và thông tin nền của bệnh nhân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448DF969-3C21-4BB3-A4DA-DB9F1C2E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Chưa có ETL MIMIC hoàn chỉnh hoặc cohort Sepsis-3 thực tế</a:t>
            </a:r>
          </a:p>
        </p:txBody>
      </p:sp>
    </p:spTree>
    <p:extLst>
      <p:ext uri="{BB962C8B-B14F-4D97-AF65-F5344CB8AC3E}">
        <p14:creationId xmlns:p14="http://schemas.microsoft.com/office/powerpoint/2010/main" val="1865641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B3C39DA0-A61C-4FB5-8003-1CE39644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Chia theo bệnh nhân, fit chỉ trên train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711F221-E207-4D05-8D8A-62D20B0B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data/trajectories_{train,val,test}.csv, member_1_data/preprocessor.py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AC16013-168D-4BB9-A3C8-64092868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0D10B-BF8A-4C9B-AD70-585C08307A59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1905000"/>
                <a:gridCol w="2667000"/>
                <a:gridCol w="4448175"/>
              </a:tblGrid>
              <a:tr h="7000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Tập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Bệnh nhân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Chuyển trạng thái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Vai trò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7000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Train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420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5.496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Học biểu diễn và policy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1.173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Phân tích độ nhạy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00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1.171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Báo cáo giữ lại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84625CE-9C46-4155-ABEC-DFC9F958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291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Median, scaler và K-means: fit trên 420 bệnh nhân train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FBFAFA9-A50F-4275-BE01-5CB29D6B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Validation và test chỉ dùng transform</a:t>
            </a:r>
          </a:p>
        </p:txBody>
      </p:sp>
    </p:spTree>
    <p:extLst>
      <p:ext uri="{BB962C8B-B14F-4D97-AF65-F5344CB8AC3E}">
        <p14:creationId xmlns:p14="http://schemas.microsoft.com/office/powerpoint/2010/main" val="6482217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77A396DE-1B83-468B-B9AE-C4D879FE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75 trạng thái và 25 hành động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EBB7E23-F9B1-4D4B-9186-66473CC34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member_1_data/state_action_encoder.py, artifacts/action_bins.json, features_schema.json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9E454CD-3DB1-4EFB-9EC5-7DF03B90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4C90B8C5-3335-4AB6-8A9B-0AA4EDAA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906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Trạng thái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169B3FE-7557-48D9-96E6-D50049F3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30 đặc trưng sau xử lý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K-means với 75 cụm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 ∈ {0, …, 74}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DB93F85-67ED-435B-94F0-0C88E1EF7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9067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Hành động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E42D6FCB-746D-493B-8FA5-DD4A23AF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5742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5 bin dịch × 5 bin vận mạch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25 tổ hợp liều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 ∈ {0, …, 24}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F606E675-5206-441B-874F-0D7663ED0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a = 5 × bin_dịch + bin_vận_mạch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E58DEA1C-3D96-45E2-9BC8-9C162449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Ví dụ mã hóa: (2, 3) tương ứng hành động 13</a:t>
            </a:r>
          </a:p>
        </p:txBody>
      </p:sp>
    </p:spTree>
    <p:extLst>
      <p:ext uri="{BB962C8B-B14F-4D97-AF65-F5344CB8AC3E}">
        <p14:creationId xmlns:p14="http://schemas.microsoft.com/office/powerpoint/2010/main" val="13387299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1EE5F6C5-A05C-45F2-B5E9-49EE85C7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Một episode kết thúc theo từng ICU stay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F9E52E2-0792-4C14-8B5B-7DF2ED35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member_1_data/trajectory_validation.py, synthetic_data.py, data/trajectories_train.csv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E08CB82-C26E-483C-80C7-9F880405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71891-96FC-471E-A477-C65FC47122E2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4381500"/>
                <a:gridCol w="4591050"/>
              </a:tblGrid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Thời điểm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Thông tin dùng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Sau bước hiện tại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sₜ trước điều trị, chọn aₜ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rₜ và sₜ₊₁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 + 1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sₜ₊₁ trước điều trị mới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Tiếp tục episode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Bước cuối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Outcome mô phỏng của stay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done = True, vào terminal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6F3F76BF-319F-441A-9203-82D85D3D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Không nối chuyển trạng thái giữa hai ICU stay khác nhau</a:t>
            </a:r>
          </a:p>
        </p:txBody>
      </p:sp>
    </p:spTree>
    <p:extLst>
      <p:ext uri="{BB962C8B-B14F-4D97-AF65-F5344CB8AC3E}">
        <p14:creationId xmlns:p14="http://schemas.microsoft.com/office/powerpoint/2010/main" val="1738035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75169207-3CCC-4DD2-8886-A44DD295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MDP của bản triển khai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9C03092-B361-4D1E-99D5-B0782114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member_2_rl/mdp_builder.py, policy_iteration.py, artifacts/ai_policy.json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7DB02AB-A48C-4414-9BC2-D48FBFF2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9FDBD64-96A6-4B94-99E8-E90BF7FF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85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M = (S, A, T, R, γ)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05729D-B86D-45A5-B8E1-82A55D0F8C0A}"/>
              </a:ext>
            </a:extLst>
          </p:cNvPr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10972800" cy="3028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0579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Thành phần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Ý nghĩa trong dự án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60579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S, 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75 + 2 trạng thái, 25 tổ hợp liều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T(s, a, s′)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Xác suất đến s′ khi chọn a tại 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R(s, a, s′)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Phần thưởng trung bình của chuyển trạng thái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γ = 0,99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Chiết khấu phần thưởng ở các bước sau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189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89DB512B-478F-412F-ADD9-AD800DD0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Ước lượng chuyển trạng thái từ số đếm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2EC6875-896A-4F8C-817D-136CE05B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member_2_rl/mdp_builder.py, artifacts/mdp_matrices.npz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7988335-6C8A-43C7-A5D3-B61AA72C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D0D71B2-E16C-4F37-B59B-8BACF8EB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T(s, a, s′) = N(s, a, s′) / N(s, a)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2CED9F7-7032-4091-ACB4-E7AD6F0D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76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N(s, a) = Σₛ′ N(s, a, s′)</a:t>
            </a:r>
          </a:p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N là số lần quan sát trong trajectories train.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D893AEC8-C7FD-4D05-A9F5-009F75B6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647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40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77 × 25 × 77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F5D9B88-BD59-4F33-B8E9-E24080DA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trạng thái hiện tại × hành động × trạng thái kế tiếp</a:t>
            </a:r>
          </a:p>
        </p:txBody>
      </p:sp>
    </p:spTree>
    <p:extLst>
      <p:ext uri="{BB962C8B-B14F-4D97-AF65-F5344CB8AC3E}">
        <p14:creationId xmlns:p14="http://schemas.microsoft.com/office/powerpoint/2010/main" val="10987031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040E30DB-3A65-45CB-8A38-28407E56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Action masking và năm trạng thái fallback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D668D7A-E364-4342-9BA3-D2DBABB2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artifacts/ai_policy.json, mdp_matrices.npz, member_2_rl/mdp_builder.py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3A52722-0979-41AB-82AC-170F0801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F6F9214-6D4C-45CA-84DD-C5486F16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Quy tắc chính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C0AFFC1-B53F-4A53-B710-8D2EDC9D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Cho phép hành động khi N(s, a) ≥ 5.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DCDFF58-B527-4E0C-97DA-1776BCF9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33675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Fallback khi mọi hành động đều dưới ngưỡng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0CBF513-012F-4116-B2F5-D9D19604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Giữ hành động quan sát nhiều nhất ở trạng thái đó.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A2EA8CA1-2E84-403B-B742-14E644A9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27, 28, 52, 58, 71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CCAF32AF-6AA9-4299-8122-B1336C601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5 trạng thái fallback trong bản chạy đã lưu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B91CECFC-E40C-41FA-B259-643DA164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Masking giảm ngoại suy nhưng không chứng minh đủ độ phủ hay an toàn</a:t>
            </a:r>
          </a:p>
        </p:txBody>
      </p:sp>
    </p:spTree>
    <p:extLst>
      <p:ext uri="{BB962C8B-B14F-4D97-AF65-F5344CB8AC3E}">
        <p14:creationId xmlns:p14="http://schemas.microsoft.com/office/powerpoint/2010/main" val="7753911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31090FF0-A218-474A-B96F-21F0A5D0B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Phần thưởng và hai trạng thái hấp thụ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C06BC52-EB31-46C3-91C5-0490C4B5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member_2_rl/mdp_builder.py, policy_iteration.py, member_1_data/synthetic_data.py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8D2C689-7ECD-44FE-A4A0-478DA61C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073C46-0A30-4A54-B5BE-C3410F682DC2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1619250"/>
                <a:gridCol w="4591050"/>
              </a:tblGrid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Chuyển trạng thái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Giá trị tiếp diễn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Chưa kết thúc episode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γV(s′)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Vào alive (75)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+100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V(alive) = 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Vào dead (76)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−100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V(dead) = 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7F207AC-7763-44CD-801B-220F05D5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Terminal tự lặp với reward 0</a:t>
            </a:r>
          </a:p>
        </p:txBody>
      </p:sp>
    </p:spTree>
    <p:extLst>
      <p:ext uri="{BB962C8B-B14F-4D97-AF65-F5344CB8AC3E}">
        <p14:creationId xmlns:p14="http://schemas.microsoft.com/office/powerpoint/2010/main" val="20670484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42385DF6-3BBD-480C-BF9A-F8981577E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Bellman policy evaluation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770760C-017D-4EDD-A23E-8397CC6A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member_2_rl/policy_iteration.py: evaluate_policy()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A525111-2BD1-4A5A-9BBA-A3AD80D8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326542D-588B-42E8-AF3E-6C247D16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V_mới(s) = Σₛ′ T(s, π(s), s′)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99D58F7-E639-45D7-85C4-AD61DE4E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                  × [R(s, π(s), s′) + γV(s′)]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B2B31-48D5-4BB4-83BC-B9A960D48D60}"/>
              </a:ext>
            </a:extLst>
          </p:cNvPr>
          <p:cNvGraphicFramePr/>
          <p:nvPr/>
        </p:nvGraphicFramePr>
        <p:xfrm>
          <a:off xmlns:a="http://schemas.openxmlformats.org/drawingml/2006/main" x="609600" y="3381375"/>
          <a:ext xmlns:a="http://schemas.openxmlformats.org/drawingml/2006/main" cx="109728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591550"/>
              </a:tblGrid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Ký hiệu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Ý nghĩa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π(s)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Hành động hiện tại của chính sách tại 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 và 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Xác suất chuyển và reward từ train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γV(s′)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Giá trị tương lai sau chiết khấu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6481E08-53D7-4F80-A31A-93C1587F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Lặp đến khi Δ = maxₛ |V_mới(s) − V_cũ(s)| &lt; 10⁻⁵</a:t>
            </a:r>
          </a:p>
        </p:txBody>
      </p:sp>
    </p:spTree>
    <p:extLst>
      <p:ext uri="{BB962C8B-B14F-4D97-AF65-F5344CB8AC3E}">
        <p14:creationId xmlns:p14="http://schemas.microsoft.com/office/powerpoint/2010/main" val="20784809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EFA7601A-FDB3-48B5-BFDE-F2E5BB1E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Policy improvement trong tập được phép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B83F300-77D9-4C29-B4E8-C8AD021E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member_2_rl/policy_iteration.py: improve_policy(), compute_all_q_values()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C874D8C-D851-4815-B9BF-EA420BB3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44B4211A-DC27-49EE-BD28-82B56152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Qπ(s, a) = Σₛ′ T(s, a, s′)[R(s, a, s′) + γVπ(s′)]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28166CC-7EEF-437D-8D8B-F43670D4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7632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Qπ(s, a): kỳ vọng return nếu thử a tại s, rồi tiếp tục theo π.</a:t>
            </a:r>
          </a:p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Vπ là giá trị đã hội tụ ở bước đánh giá.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F252467-B212-4334-8238-143A9FC4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π_mới(s) = argmax {Qπ(s, a) : a ∈ A_valid(s)}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7A8943D-316B-42FE-A5DE-9D7D6F10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A_valid(s): các hành động còn lại sau masking và fallback</a:t>
            </a:r>
          </a:p>
        </p:txBody>
      </p:sp>
    </p:spTree>
    <p:extLst>
      <p:ext uri="{BB962C8B-B14F-4D97-AF65-F5344CB8AC3E}">
        <p14:creationId xmlns:p14="http://schemas.microsoft.com/office/powerpoint/2010/main" val="10526042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C80E9601-ECBE-410F-AFF5-08EC00F0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Vòng lặp Policy Iteration và điều kiện dừng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99167DE-D8ED-49FA-BD0E-E9AF644A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member_2_rl/policy_iteration.py: fit(), evaluate_policy(), improve_policy()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25A40B8-780F-425E-BB2F-0954BB1A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FA0C6C-6BAD-4042-B374-36D1B258189F}"/>
              </a:ext>
            </a:extLst>
          </p:cNvPr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476500"/>
                <a:gridCol w="2571750"/>
                <a:gridCol w="3352800"/>
              </a:tblGrid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Bước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Giữ cố định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Cập nhật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Điều kiện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1. Evaluation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Chính sách π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Giá trị V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Δ &lt; 10⁻⁵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2. Improvement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Giá trị V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Chính sách π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Chọn Q lớn nhất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3. Kiểm tra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Chính sách mới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Số hành động đổi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Bằng 0: dừng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B3D9EE6-8B93-47DF-8766-0CBB6A8C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Giới hạn: 1.000 lượt đánh giá, 100 vòng Policy Iteration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1BB807D-2EC7-4B1C-8CB6-A5F12F9A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Vượt giới hạn mà chưa hội tụ: báo lỗi</a:t>
            </a:r>
          </a:p>
        </p:txBody>
      </p:sp>
    </p:spTree>
    <p:extLst>
      <p:ext uri="{BB962C8B-B14F-4D97-AF65-F5344CB8AC3E}">
        <p14:creationId xmlns:p14="http://schemas.microsoft.com/office/powerpoint/2010/main" val="7327595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9BEB5C0F-8721-4CD6-A17C-055FECDF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Ví dụ Bellman với hai hành động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1EE0244-3268-40F6-A3D1-A866DE04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Ví dụ toán học giả định của nhóm, công thức: member_2_rl/policy_iteration.py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59EDF3C-EBF2-48B1-B452-58A96274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083811A-9CF5-46AD-9915-4571C11C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Giả định: γ = 0,99 và V cũ(s) = 60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A485D-F764-40A8-96B3-E8EEBA2C539B}"/>
              </a:ext>
            </a:extLst>
          </p:cNvPr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10972800" cy="2028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6477000"/>
                <a:gridCol w="2400300"/>
              </a:tblGrid>
              <a:tr h="6762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Hành động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Các chuyển có thể xảy ra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Q hiện tại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6762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0,5 về s và 0,5 sống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79,7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0,8 sống và 0,2 tử vong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F1486F55-A151-459B-A526-46963271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85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Q(A) = 0,5 × 0,99 × 60 + 0,5 × 100 = 79,7</a:t>
            </a:r>
          </a:p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Q(B) = 0,8 × 100 − 0,2 × 100 = 60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CDC30B0-31FF-495A-B6BE-DA2FD1DF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Lần cải thiện này chọn A</a:t>
            </a:r>
          </a:p>
        </p:txBody>
      </p:sp>
    </p:spTree>
    <p:extLst>
      <p:ext uri="{BB962C8B-B14F-4D97-AF65-F5344CB8AC3E}">
        <p14:creationId xmlns:p14="http://schemas.microsoft.com/office/powerpoint/2010/main" val="19246563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27F72A2D-C726-4B20-9AF2-A6BBB534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Batch empirical-policy TD(0)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81224F0-E3D6-41F0-AA20-78792BEF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member_2_rl/td_evaluator.py: fit(), artifacts/ai_policy.json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6893CBF-A26D-40BE-B564-DC00F1F8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E385980-743A-424B-B474-87469CC5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yᵢ = rᵢ + γ(1 − doneᵢ)V(s′ᵢ)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47952B1-3808-4639-881F-8D58954A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Q(s, a) = trung bình yᵢ của các hàng có cùng (s, a)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F8C4707-21D7-4C8B-B73F-E8006D48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V(s) = Σₐ π̂ᵦ(a|s)Q(s, a)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9CCB010-12FD-4192-80CD-E1A1EFFE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π̂ᵦ(a|s) = N(s, a) / N(s) là tần suất hành động trên train.</a:t>
            </a:r>
          </a:p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Cập nhật batch với α = 1, chỉ trên cặp (s, a) đã quan sát.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CC9F2DA8-8A72-4B2F-AEE4-E3C7B146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doneᵢ = 1 ở bước cuối nên target chỉ còn reward</a:t>
            </a:r>
          </a:p>
        </p:txBody>
      </p:sp>
    </p:spTree>
    <p:extLst>
      <p:ext uri="{BB962C8B-B14F-4D97-AF65-F5344CB8AC3E}">
        <p14:creationId xmlns:p14="http://schemas.microsoft.com/office/powerpoint/2010/main" val="5107651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6857FA3C-030C-462B-B99F-3C4B0BDE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Chính sách ổn định sau ba vòng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8D9A9BA-5BB8-41F8-AA07-DC8EC3F2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artifacts/ai_policy.json, history và value_scope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B40C7C7-4C97-402C-A23D-C13E8CF8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43AD5BF-60DC-4A5C-B584-A577A01F5BD9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6953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e532ee79f64781"/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9CAB7F-02D1-488C-A711-5F81FD15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3832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 trung bình train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BFB2908-C666-46F8-AD87-58D836D9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95550"/>
            <a:ext cx="3429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Policy Iteration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86,28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TD hành vi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80,99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63FE320-A807-427D-9105-61C8B0D0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Trung bình trạng thái train không phải OPE hoặc return test</a:t>
            </a:r>
          </a:p>
        </p:txBody>
      </p:sp>
    </p:spTree>
    <p:extLst>
      <p:ext uri="{BB962C8B-B14F-4D97-AF65-F5344CB8AC3E}">
        <p14:creationId xmlns:p14="http://schemas.microsoft.com/office/powerpoint/2010/main" val="1069347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19BCFA75-B2DB-4E2E-830A-3137F76C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Code và đầu ra đã chuẩn bị sẵn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7DEF543-A5A6-4472-BF2F-CF717264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member_2_rl/rl_trainer.py: train(), export(), artifacts/ai_policy.json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DBAF239-9BFD-4563-A28F-585216908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5A71CF82-EB30-4D40-BDD8-79489F3B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Trích lược RLTrainer.train()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402BD4E8-8D81-4B3E-A64F-8F5C1D54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537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self.mdp = MDPBuilder(...)</a:t>
            </a:r>
          </a:p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self.mdp.build_from_trajectories(train_traj_df)</a:t>
            </a:r>
          </a:p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self.pi = PolicyIteration(mdp=self.mdp, ...)</a:t>
            </a:r>
          </a:p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self.pi.fit()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C4EEF-891F-477B-B2EE-F5F210E34E60}"/>
              </a:ext>
            </a:extLst>
          </p:cNvPr>
          <p:cNvGraphicFramePr/>
          <p:nvPr/>
        </p:nvGraphicFramePr>
        <p:xfrm>
          <a:off xmlns:a="http://schemas.openxmlformats.org/drawingml/2006/main" x="609600" y="4286250"/>
          <a:ext xmlns:a="http://schemas.openxmlformats.org/drawingml/2006/main" cx="1097280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6305550"/>
              </a:tblGrid>
              <a:tr h="476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Đầu ra đã lưu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476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converged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true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policy / history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75 mục policy / 3 vòng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ADA5458-A92E-4E8E-ACE8-612A3EB8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Xuất bằng RLTrainer.export(): ai_policy.json và mdp_matrices.npz</a:t>
            </a:r>
          </a:p>
        </p:txBody>
      </p:sp>
    </p:spTree>
    <p:extLst>
      <p:ext uri="{BB962C8B-B14F-4D97-AF65-F5344CB8AC3E}">
        <p14:creationId xmlns:p14="http://schemas.microsoft.com/office/powerpoint/2010/main" val="3097961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9BE5239A-F9AA-4FF1-88BA-0A799044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Chính sách hành vi và chính sách đích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B81C9652-4CB5-499B-996C-628BEA97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member_3_evaluation/behavior_policy.py, off_policy_wis.py, configs/evaluation.yaml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BA1E657-D027-4C2E-B234-CA78AA62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2AC7FEB-2C89-4F9B-950C-9A5CC63C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π̂ᵦ(a|s) = [N(s, a) + 0,05] / [N(s) + 25 × 0,05]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CA1E895-EB53-4AEB-B2CF-F7731450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Hành vi mô phỏng, ước lượng từ train với Laplace smoothing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217624B-5D44-49A7-B419-3FA09A8C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πₑ(a|s) = 0,99 nếu a = πPI(s)</a:t>
            </a:r>
          </a:p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πₑ(a|s) = 0,01 / 24 với hành động còn lại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29C96ED1-671B-43BC-B64F-03B6CF33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Smoothing không chứng minh dữ liệu có đủ độ phủ</a:t>
            </a:r>
          </a:p>
        </p:txBody>
      </p:sp>
    </p:spTree>
    <p:extLst>
      <p:ext uri="{BB962C8B-B14F-4D97-AF65-F5344CB8AC3E}">
        <p14:creationId xmlns:p14="http://schemas.microsoft.com/office/powerpoint/2010/main" val="151462569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BFC09546-9B54-49C8-BAB1-74E458EF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WIS theo episode và log-weight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D6159D2-6A71-4A49-B641-A3CD8581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member_3_evaluation/off_policy_wis.py: evaluate_trajectories(), normalize_log_weights()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903C54F-6604-431A-A243-CEBB1CB6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320E83A-BBA9-403A-A48E-FEEE2F80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Gᵢ = Σₜ γᵗrᵢₜ       ρᵢ = ∏ₜ πₑ(aᵢₜ|sᵢₜ) / π̂ᵦ(aᵢₜ|sᵢₜ)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7487B0F-20A9-4E15-AC69-6C55CEF1B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ℓᵢ = Σₜ [log πₑ(aᵢₜ|sᵢₜ) − log π̂ᵦ(aᵢₜ|sᵢₜ)]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B173462-0594-407A-AE53-46A71474A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wᵢ = exp(ℓᵢ − max ℓ) / Σⱼ exp(ℓⱼ − max ℓ)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A94B235-FC31-440F-82F1-E85EBA23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0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V̂WIS = Σᵢ wᵢGᵢ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9B274513-C2B4-47C9-856F-1AC040F1F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i: episode, t: bước thời gian. Chặn trên ℓ ở log(500) trước chuẩn hóa.</a:t>
            </a:r>
          </a:p>
        </p:txBody>
      </p:sp>
    </p:spTree>
    <p:extLst>
      <p:ext uri="{BB962C8B-B14F-4D97-AF65-F5344CB8AC3E}">
        <p14:creationId xmlns:p14="http://schemas.microsoft.com/office/powerpoint/2010/main" val="18964637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D686DF6B-C462-4433-B36C-146A7A5A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Bootstrap 500 lần theo bệnh nhân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27C5C03-EE37-4E42-B5B9-23CCFB50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member_3_evaluation/bootstrap_evaluator.py, configs/evaluation.yaml, evaluation_metrics.json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26D4256-9651-4169-ADEE-A9986120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3922525-6E8D-4EAA-A765-A4BADC38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Đơn vị lấy mẫu: bệnh nhân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8BD04D3-976D-4A81-AACB-CBEA37E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Lấy có hoàn lại subject_id, giữ toàn bộ ICU stay tương ứng.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80A5780-797D-409F-A90D-B541FD7E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Tính lại trên mỗi mẫu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4CC832FE-5CB1-427F-8475-295687B9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WIS chuẩn hóa lại trọng số. Return quan sát dùng trung bình episode.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93B6C1E9-CD30-4F08-AE65-E58B3B6A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Khoảng 95% theo percentile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F4E2CD8E-05D8-4BBC-8C67-A3C64641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Phân vị 2,5% và 97,5% của 500 lần bootstrap, seed = 42.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173CE57B-8ABB-44C1-8056-02372826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858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Bootstrap không bù được thiếu độ phủ giữa hai chính sách</a:t>
            </a:r>
          </a:p>
        </p:txBody>
      </p:sp>
    </p:spTree>
    <p:extLst>
      <p:ext uri="{BB962C8B-B14F-4D97-AF65-F5344CB8AC3E}">
        <p14:creationId xmlns:p14="http://schemas.microsoft.com/office/powerpoint/2010/main" val="95348791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CA4C175C-EC2C-45B2-BB38-0BC5AD42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Kết quả trên 90 episode test mô phỏng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21B8168-65C7-4522-A81E-39EC91C0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artifacts/evaluation_metrics.json, 500 patient-cluster bootstrap, percentile 95%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3D1BD5AC-31F6-4BFF-A8F5-A612AF40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0276C-95D4-4DD6-8846-E19FBD4B5123}"/>
              </a:ext>
            </a:extLst>
          </p:cNvPr>
          <p:cNvGraphicFramePr/>
          <p:nvPr/>
        </p:nvGraphicFramePr>
        <p:xfrm>
          <a:off xmlns:a="http://schemas.openxmlformats.org/drawingml/2006/main" x="609600" y="1743075"/>
          <a:ext xmlns:a="http://schemas.openxmlformats.org/drawingml/2006/main" cx="109728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43375"/>
                <a:gridCol w="1714500"/>
                <a:gridCol w="2047875"/>
                <a:gridCol w="3067050"/>
              </a:tblGrid>
              <a:tr h="800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Ước lượng return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Toàn test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Trung vị</a:t>
                      </a:r>
                    </a:p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bootstrap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KTC 95%</a:t>
                      </a:r>
                    </a:p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bootstrap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800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Chính sách đích mềm (WIS)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91,48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91,48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88,64–93,21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Hành vi mô phỏng quan sát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80,73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80,77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72,71–86,95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D3D92AD-8AFD-4238-96E4-F3ECD185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8C2835"/>
                </a:solidFill>
                <a:latin typeface="Arial"/>
                <a:ea typeface="Arial"/>
                <a:cs typeface="Arial"/>
              </a:rPr>
              <a:t>ESS = 1,90 / 90: so sánh thiếu độ tin cậy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5C33900-E8AD-430D-BEE0-5227385A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Chỉ minh họa kỹ thuật. Return không phải tỷ lệ sống.</a:t>
            </a:r>
          </a:p>
        </p:txBody>
      </p:sp>
    </p:spTree>
    <p:extLst>
      <p:ext uri="{BB962C8B-B14F-4D97-AF65-F5344CB8AC3E}">
        <p14:creationId xmlns:p14="http://schemas.microsoft.com/office/powerpoint/2010/main" val="142021279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48750FE0-3AD6-4125-98B8-8B6BF28B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ESS thấp và độ nhạy trên validation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F86B0C0-12AE-438F-9825-8648544A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artifacts/evaluation_metrics.json, data/sensitivity_analysis.csv (validation)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9F82EF5-B599-46DF-A96A-ECED0D9D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64605B64-418F-4918-AE6F-59A6F8E1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95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ESS = 1 / Σᵢ wᵢ²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AF2123DF-896A-4028-9333-64A85D81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6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8C2835"/>
                </a:solidFill>
                <a:latin typeface="Arial"/>
                <a:ea typeface="Arial"/>
                <a:cs typeface="Arial"/>
              </a:rPr>
              <a:t>1,90 / 90 trên test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C9CA07-46F3-4BBE-AB93-72F1CCAB9AD6}"/>
              </a:ext>
            </a:extLst>
          </p:cNvPr>
          <p:cNvGraphicFramePr/>
          <p:nvPr/>
        </p:nvGraphicFramePr>
        <p:xfrm>
          <a:off xmlns:a="http://schemas.openxmlformats.org/drawingml/2006/main" x="609600" y="3114675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2857500"/>
                <a:gridCol w="2686050"/>
              </a:tblGrid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Thay đổi trên validation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WIS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ESS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Smoothing α: 0,01–0,20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93,20–93,21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1,03–1,70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Clip: 100–1.000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93,20–93,20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1,70–1,70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Đích mềm: 0,95–0,99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93,10–93,20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1,70–2,73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C2CB22C-4C05-4F2A-9F6F-1663113C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8C2835"/>
                </a:solidFill>
                <a:latin typeface="Arial"/>
                <a:ea typeface="Arial"/>
                <a:cs typeface="Arial"/>
              </a:rPr>
              <a:t>ESS thấp ở mọi cấu hình. Chưa thể kết luận AI vượt bác sĩ.</a:t>
            </a:r>
          </a:p>
        </p:txBody>
      </p:sp>
    </p:spTree>
    <p:extLst>
      <p:ext uri="{BB962C8B-B14F-4D97-AF65-F5344CB8AC3E}">
        <p14:creationId xmlns:p14="http://schemas.microsoft.com/office/powerpoint/2010/main" val="22418758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18214168-4690-4DC3-89C6-4030772A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Chênh lệch bin liều và tử vong mô phỏng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FE67223-7D01-4C2F-9889-3E88B626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Mô phỏng: figures/mortality_bin_summary.csv, member_3_evaluation/visualizer.py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734B675-CE03-48AA-B6E0-20FEFDB7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DCF602F4-767C-455E-B798-ACA63A16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Dịch truyền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005534E-5665-4DD2-94FD-6D5E29032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192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Thuốc vận mạch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E5DFDA-EB15-443D-A4F7-173A2F5196DA}"/>
              </a:ext>
            </a:extLst>
          </p:cNvPr>
          <p:cNvGraphicFramePr/>
          <p:nvPr/>
        </p:nvGraphicFramePr>
        <p:xfrm>
          <a:off xmlns:a="http://schemas.openxmlformats.org/drawingml/2006/main" x="609600" y="2000250"/>
          <a:ext xmlns:a="http://schemas.openxmlformats.org/drawingml/2006/main" cx="5219700" cy="2981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04900"/>
                <a:gridCol w="914400"/>
                <a:gridCol w="3200400"/>
              </a:tblGrid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Nhóm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d/n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% [KTC 95%]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&lt;&lt;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2/37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5,4 [1,5–17,7]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&lt;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0/20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[0,0–16,1]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Khớp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2/9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22,2 [6,3–54,7]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&gt;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0/14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[0,0–21,5]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&gt;&gt;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0/10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[0,0–27,8]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3D8BC-7488-42BA-BD41-700AD6C4BC6C}"/>
              </a:ext>
            </a:extLst>
          </p:cNvPr>
          <p:cNvGraphicFramePr/>
          <p:nvPr/>
        </p:nvGraphicFramePr>
        <p:xfrm>
          <a:off xmlns:a="http://schemas.openxmlformats.org/drawingml/2006/main" x="6362700" y="2000250"/>
          <a:ext xmlns:a="http://schemas.openxmlformats.org/drawingml/2006/main" cx="5219700" cy="2981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04900"/>
                <a:gridCol w="914400"/>
                <a:gridCol w="3200400"/>
              </a:tblGrid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Nhóm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d/n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% [KTC 95%]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&lt;&lt;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[0,0–49,0]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&lt;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0/11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[0,0–25,9]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Khớp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0/13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[0,0–22,8]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&gt;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4/44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9,1 [3,6–21,2]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688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&gt;&gt; AI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0/18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0,0 [0,0–17,6]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7E0A620A-0FF6-457C-B3AD-8926E5A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d/n: số tử vong / số episode. KTC 95% theo Wilson.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E68220F2-B782-4122-92B6-24A0B88A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Nhóm dựa trên chênh lệch bin quan sát so với AI. Liên hệ không chứng minh nhân quả.</a:t>
            </a:r>
          </a:p>
        </p:txBody>
      </p:sp>
    </p:spTree>
    <p:extLst>
      <p:ext uri="{BB962C8B-B14F-4D97-AF65-F5344CB8AC3E}">
        <p14:creationId xmlns:p14="http://schemas.microsoft.com/office/powerpoint/2010/main" val="193699899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E7920636-8255-40FB-824A-89548847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Kết luận và giới hạn ứng dụng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8E7ED59-2B16-47F6-A5A4-6D54622E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README.md, artifacts/cohort_manifest.json, evaluation_metrics.json, Komorowski và cs. (2018)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38900E6-112D-4344-9F43-4516CBCD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33200-BAA4-4EB4-B031-4F603F30CD1F}"/>
              </a:ext>
            </a:extLst>
          </p:cNvPr>
          <p:cNvGraphicFramePr/>
          <p:nvPr/>
        </p:nvGraphicFramePr>
        <p:xfrm>
          <a:off xmlns:a="http://schemas.openxmlformats.org/drawingml/2006/main" x="609600" y="1552575"/>
          <a:ext xmlns:a="http://schemas.openxmlformats.org/drawingml/2006/main" cx="10972800" cy="2562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543800"/>
              </a:tblGrid>
              <a:tr h="640556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Lĩnh vực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Vai trò trong dự án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640556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Machine Learning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K-means, MDP và Policy Iteration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556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Thống kê sinh học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Bootstrap, ESS, bất định và giới hạn nhân quả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556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Lập trình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Hợp đồng dữ liệu, kiểm thử, lưu artifacts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6241516-072E-4725-867B-DDEAFFD6C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10858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Cần dữ liệu thật được thẩm định và đánh giá ngoài mẫu</a:t>
            </a:r>
          </a:p>
          <a:p xmlns:a="http://schemas.openxmlformats.org/drawingml/2006/main">
            <a:pPr>
              <a:defRPr sz="24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trước quy trình kiểm chứng lâm sàng có giám sát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351014A-188B-4823-8B22-80D4D4B1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8C2835"/>
                </a:solidFill>
                <a:latin typeface="Arial"/>
                <a:ea typeface="Arial"/>
                <a:cs typeface="Arial"/>
              </a:rPr>
              <a:t>Chưa có clinical trial hoặc bảo đảm HCOPE</a:t>
            </a:r>
          </a:p>
        </p:txBody>
      </p:sp>
    </p:spTree>
    <p:extLst>
      <p:ext uri="{BB962C8B-B14F-4D97-AF65-F5344CB8AC3E}">
        <p14:creationId xmlns:p14="http://schemas.microsoft.com/office/powerpoint/2010/main" val="103443162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88686E13-D3C4-49CA-AAEC-3818C9210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Tài liệu tham khảo và nguồn kết quả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6EF17A6-300B-4BFF-814C-D16D4F5F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Bài báo gốc trong docs, artifacts và CSV hiện có của nhóm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C59554E-8B54-4C24-9377-9D4CC70B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2977A27-4782-41D5-80C7-CBE6CBBD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Nghiên cứu gốc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499BEA1-F48F-4A53-A781-CE61AB2B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Komorowski và cs. (2018). The Artificial Intelligence Clinician learns</a:t>
            </a:r>
          </a:p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optimal treatment strategies for sepsis in intensive care.</a:t>
            </a:r>
          </a:p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Nature Medicine 24, 1716–1720.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7F55624-E639-492D-9945-5E6BF380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085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Số liệu và code của nhóm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75254AB-32D3-48BD-8F33-4F801E93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85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artifacts/ai_policy.json, evaluation_metrics.json, cohort_manifest.json</a:t>
            </a:r>
          </a:p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data/trajectories_*.csv, sensitivity_analysis.csv</a:t>
            </a:r>
          </a:p>
          <a:p xmlns:a="http://schemas.openxmlformats.org/drawingml/2006/main">
            <a:pPr>
              <a:defRPr sz="20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figures/mortality_bin_summary.csv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FEC3DA36-345D-497B-B0A1-D76F7144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87F83"/>
                </a:solidFill>
                <a:latin typeface="Arial"/>
                <a:ea typeface="Arial"/>
                <a:cs typeface="Arial"/>
                <a:hlinkClick xmlns:r="http://schemas.openxmlformats.org/officeDocument/2006/relationships" r:id="Re073e705b3924173"/>
              </a:rPr>
              <a:t>https://doi.org/10.1038/s41591-018-0213-5</a:t>
            </a:r>
          </a:p>
        </p:txBody>
      </p:sp>
    </p:spTree>
    <p:extLst>
      <p:ext uri="{BB962C8B-B14F-4D97-AF65-F5344CB8AC3E}">
        <p14:creationId xmlns:p14="http://schemas.microsoft.com/office/powerpoint/2010/main" val="28494380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D78DD243-1CF4-482F-BABD-216F63394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Phụ lục A: ký hiệu và nghiệm Bellman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53E689C9-8C33-464F-A827-B3CD6456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Ví dụ toán học giả định, member_2_rl/policy_iteration.py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F568101-1B35-42BE-B4A2-DA4D79BD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97D05-9B6D-4E16-B27B-04E503706CE7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2171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Ký hiệu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Diễn giải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s, a, s′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Trạng thái, hành động, trạng thái kế tiếp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T, R, γ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Xác suất chuyển, reward, hệ số chiết khấu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Vπ(s), Qπ(s,a)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Giá trị trạng thái và giá trị thử hành động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DB95C2B-8CA9-40FA-B7F1-9C11F1F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V_A = 0,5 × 0,99V_A + 50</a:t>
            </a:r>
          </a:p>
          <a:p xmlns:a="http://schemas.openxmlformats.org/drawingml/2006/main">
            <a:pPr>
              <a:defRPr sz="28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V_A = 50 / (1 − 0,495) ≈ 99,01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229D5CF-9909-4FA7-9B67-E96DB4BD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0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263238"/>
                </a:solidFill>
                <a:latin typeface="Arial"/>
                <a:ea typeface="Arial"/>
                <a:cs typeface="Arial"/>
              </a:rPr>
              <a:t>Q(A) = 79,7 ở slide 17 là một lần cập nhật từ V cũ = 60</a:t>
            </a:r>
          </a:p>
        </p:txBody>
      </p:sp>
    </p:spTree>
    <p:extLst>
      <p:ext uri="{BB962C8B-B14F-4D97-AF65-F5344CB8AC3E}">
        <p14:creationId xmlns:p14="http://schemas.microsoft.com/office/powerpoint/2010/main" val="170917467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1">
            <a:extLst xmlns:a="http://schemas.openxmlformats.org/drawingml/2006/main">
              <a:ext uri="{FF2B5EF4-FFF2-40B4-BE49-F238E27FC236}">
                <a16:creationId xmlns:a16="http://schemas.microsoft.com/office/drawing/2014/main" id="{BDCCEC91-404D-4851-BD9D-94913D07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Phụ lục B: thuật toán và vị trí trong code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70F1713-880E-46EF-B410-2CC0C26E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Source code hiện có trong member_1_data, member_2_rl và member_3_evaluation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4692A1D-C91B-48CA-AAE7-E43C9939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2DD53-44B8-4136-A5D4-97D009E53A62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4267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Thuật toán / bước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File và hàm chính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Mã hóa trạng thái / hành động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member_1_data/state_action_encoder.py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Ước lượng MDP và masking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member_2_rl/mdp_builder.py: build_from_trajectories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Bellman / policy improvement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member_2_rl/policy_iteration.py: evaluate_policy, improve_policy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TD batch theo hành vi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member_2_rl/td_evaluator.py: fit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WIS và log-weight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member_3_evaluation/off_policy_wis.py: evaluate_trajectories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Bootstrap theo bệnh nhân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0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member_3_evaluation/bootstrap_evaluator.py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750984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489ADD4C-969A-4051-AF7A-3379869E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Phụ lục C: kiểm thử và hợp đồng dữ liệu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B87C0B6-0904-43CC-86A8-EC5E1454D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member_1_data/trajectory_validation.py, test_regressions.py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E138ECA-F692-4F6F-963C-F83B926C6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A01DD-99B4-44D9-9394-7A6BE4285041}"/>
              </a:ext>
            </a:extLst>
          </p:cNvPr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5905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Lớp kiểm tra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Ràng buộc cần giữ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5905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Định danh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Không nối chuyển giữa hai ICU stay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Miền giá trị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s: 0–74, a: 0–24, terminal: 75/76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Trình tự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time_step liên tiếp, next_state nối đúng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Kết thúc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Một done cuối episode, next_state cuối là terminal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Thuật toán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19 ca hồi quy trong test_regressions.py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E62D3FA-EA86-4073-879E-FE72F6AA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defPPr>
            <a:lvl1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1pPr>
            <a:lvl2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2pPr>
            <a:lvl3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3pPr>
            <a:lvl4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4pPr>
            <a:lvl5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5pPr>
            <a:lvl6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6pPr>
            <a:lvl7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7pPr>
            <a:lvl8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8pPr>
            <a:lvl9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00" b="0">
                <a:solidFill>
                  <a:srgbClr val="8C283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8C2835"/>
                </a:solidFill>
                <a:latin typeface="Arial"/>
                <a:ea typeface="Arial"/>
                <a:cs typeface="Arial"/>
              </a:rPr>
              <a:t>Kiểm thử phần mềm không thay thế kiểm chứng lâm sàng</a:t>
            </a:r>
          </a:p>
        </p:txBody>
      </p:sp>
    </p:spTree>
    <p:extLst>
      <p:ext uri="{BB962C8B-B14F-4D97-AF65-F5344CB8AC3E}">
        <p14:creationId xmlns:p14="http://schemas.microsoft.com/office/powerpoint/2010/main" val="26232036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D99F95F1-8120-4259-B287-B692A0D5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defPPr>
            <a:lvl1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1pPr>
            <a:lvl2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2pPr>
            <a:lvl3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3pPr>
            <a:lvl4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4pPr>
            <a:lvl5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5pPr>
            <a:lvl6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6pPr>
            <a:lvl7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7pPr>
            <a:lvl8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8pPr>
            <a:lvl9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00" b="1">
                <a:solidFill>
                  <a:srgbClr val="26323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263238"/>
                </a:solidFill>
                <a:latin typeface="Arial"/>
                <a:ea typeface="Arial"/>
                <a:cs typeface="Arial"/>
              </a:rPr>
              <a:t>Phụ lục D: câu hỏi phản biện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8C6F17F-A7A9-49B8-988D-1B7E8F29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Đối chiếu README.md, code và artifacts của nhóm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645A78F-D73E-42E1-B2CE-F9EF7D09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8656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656A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6B812A-3FC3-4D23-BDF6-616CBE1C06DE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877050"/>
              </a:tblGrid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Câu hỏi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087F83"/>
                          </a:solidFill>
                          <a:latin typeface="Arial"/>
                          <a:ea typeface="Arial"/>
                          <a:cs typeface="Arial"/>
                        </a:rPr>
                        <a:t>Ý trả lời ngắn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T w="6668">
                      <a:solidFill>
                        <a:srgbClr val="D5DFE0"/>
                      </a:solidFill>
                      <a:prstDash val="solid"/>
                    </a:lnT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EEF6F6"/>
                    </a:solidFill>
                  </a:tcPr>
                </a:tc>
              </a:tr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Đây có phải dữ liệu MIMIC?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Chưa. Bản hiện tại dùng synthetic-v2.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Tại sao terminal có V = 0?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Reward ±100 đã nhận khi đi vào terminal.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TD có phải Q-learning?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Không. TD đánh giá hành vi thực nghiệm.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WIS cao nghĩa là AI tốt hơn?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ESS 1,90/90 khiến so sánh thiếu tin cậy.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Có thể dùng tại bệnh viện?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D5DFE0"/>
                      </a:solidFill>
                      <a:prstDash val="solid"/>
                    </a:lnL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263238"/>
                          </a:solidFill>
                          <a:latin typeface="Arial"/>
                          <a:ea typeface="Arial"/>
                          <a:cs typeface="Arial"/>
                        </a:rPr>
                        <a:t>Chưa có kiểm chứng lâm sàng hoặc HCOPE.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D5DFE0"/>
                      </a:solidFill>
                      <a:prstDash val="solid"/>
                    </a:lnR>
                    <a:lnB w="6668">
                      <a:solidFill>
                        <a:srgbClr val="D5DF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AA13DCE-585D-4EF2-A22D-F4818164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defPPr>
            <a:lvl1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1pPr>
            <a:lvl2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2pPr>
            <a:lvl3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3pPr>
            <a:lvl4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4pPr>
            <a:lvl5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5pPr>
            <a:lvl6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6pPr>
            <a:lvl7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7pPr>
            <a:lvl8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8pPr>
            <a:lvl9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00" b="1">
                <a:solidFill>
                  <a:srgbClr val="087F83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87F83"/>
                </a:solidFill>
                <a:latin typeface="Arial"/>
                <a:ea typeface="Arial"/>
                <a:cs typeface="Arial"/>
              </a:rPr>
              <a:t>Giang: dữ liệu. Sơn: RL. Cường: đánh giá.</a:t>
            </a:r>
          </a:p>
        </p:txBody>
      </p:sp>
    </p:spTree>
    <p:extLst>
      <p:ext uri="{BB962C8B-B14F-4D97-AF65-F5344CB8AC3E}">
        <p14:creationId xmlns:p14="http://schemas.microsoft.com/office/powerpoint/2010/main" val="296464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2026-10-18T17:48:04.1950000Z</dcterms:created>
  <dcterms:modified xsi:type="dcterms:W3CDTF">2026-10-18T17:48:04.1950000Z</dcterms:modified>
</coreProperties>
</file>